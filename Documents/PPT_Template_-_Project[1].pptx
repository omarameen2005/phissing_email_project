
<file path=[Content_Types].xml><?xml version="1.0" encoding="utf-8"?>
<Types xmlns="http://schemas.openxmlformats.org/package/2006/content-types">
  <Default Extension="png" ContentType="image/png"/>
  <Default Extension="gif" ContentType="image/gi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72" r:id="rId11"/>
    <p:sldId id="263" r:id="rId12"/>
    <p:sldId id="264" r:id="rId13"/>
    <p:sldId id="265" r:id="rId14"/>
    <p:sldId id="266" r:id="rId15"/>
    <p:sldId id="267" r:id="rId16"/>
    <p:sldId id="273" r:id="rId17"/>
    <p:sldId id="274" r:id="rId18"/>
    <p:sldId id="268" r:id="rId19"/>
    <p:sldId id="269" r:id="rId20"/>
    <p:sldId id="270" r:id="rId21"/>
    <p:sldId id="271" r:id="rId22"/>
  </p:sldIdLst>
  <p:sldSz cx="9144000" cy="5143500" type="screen16x9"/>
  <p:notesSz cx="6858000" cy="9144000"/>
  <p:embeddedFontLst>
    <p:embeddedFont>
      <p:font typeface="Raleway SemiBold"/>
      <p:regular r:id="rId26"/>
    </p:embeddedFont>
    <p:embeddedFont>
      <p:font typeface="Raleway"/>
      <p:regular r:id="rId27"/>
      <p:bold r:id="rId28"/>
      <p:italic r:id="rId29"/>
      <p:boldItalic r:id="rId30"/>
    </p:embeddedFont>
    <p:embeddedFont>
      <p:font typeface="Raleway Light"/>
      <p:regular r:id="rId31"/>
      <p:bold r:id="rId32"/>
      <p:italic r:id="rId33"/>
      <p:boldItalic r:id="rId34"/>
    </p:embeddedFont>
    <p:embeddedFont>
      <p:font typeface="Nunito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2" d="100"/>
          <a:sy n="92" d="100"/>
        </p:scale>
        <p:origin x="-75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10.fntdata"/><Relationship Id="rId34" Type="http://schemas.openxmlformats.org/officeDocument/2006/relationships/font" Target="fonts/font9.fntdata"/><Relationship Id="rId33" Type="http://schemas.openxmlformats.org/officeDocument/2006/relationships/font" Target="fonts/font8.fntdata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" Target="slides/slide1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50684f8d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250684f8d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b61ea6080_2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b61ea6080_2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50684f8d5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50684f8d5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50684f8d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50684f8d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50684f8d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50684f8d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50684f8d5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50684f8d5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50684f8d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50684f8d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50684f8d5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250684f8d5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50684f8d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50684f8d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50684f8d5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250684f8d5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50684f8d5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50684f8d5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50684f8d5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50684f8d5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50684f8d5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50684f8d5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50684f8d5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50684f8d5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50684f8d5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50684f8d5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50684f8d5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250684f8d5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50684f8d5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250684f8d5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50684f8d5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250684f8d5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00" y="1337340"/>
            <a:ext cx="9144000" cy="2651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52400" y="1836825"/>
            <a:ext cx="4775400" cy="10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Raleway SemiBold"/>
              <a:buNone/>
              <a:defRPr sz="38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52400" y="2934525"/>
            <a:ext cx="5708400" cy="9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unito"/>
              <a:buNone/>
              <a:defRPr sz="140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52400" y="4115125"/>
            <a:ext cx="8812800" cy="9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l" rtl="0">
              <a:lnSpc>
                <a:spcPct val="115000"/>
              </a:lnSpc>
              <a:buNone/>
              <a:def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 Members: </a:t>
            </a:r>
            <a:endParaRPr lang="en-GB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0">
                <a:latin typeface="Raleway Light"/>
                <a:ea typeface="Raleway Light"/>
                <a:cs typeface="Raleway Light"/>
                <a:sym typeface="Raleway Light"/>
              </a:rPr>
              <a:t>Team Member#1 - Team Member#2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0">
                <a:latin typeface="Raleway Light"/>
                <a:ea typeface="Raleway Light"/>
                <a:cs typeface="Raleway Light"/>
                <a:sym typeface="Raleway Light"/>
              </a:rPr>
              <a:t>Team Member#3 - Team Member#4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 b="0">
                <a:latin typeface="Raleway Light"/>
                <a:ea typeface="Raleway Light"/>
                <a:cs typeface="Raleway Light"/>
                <a:sym typeface="Raleway Light"/>
              </a:rPr>
              <a:t>Team Member#5 - Team Member#6</a:t>
            </a:r>
            <a:endParaRPr sz="1000" b="0"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52400" y="196525"/>
            <a:ext cx="1785374" cy="6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3"/>
          <a:srcRect r="2676"/>
          <a:stretch>
            <a:fillRect/>
          </a:stretch>
        </p:blipFill>
        <p:spPr>
          <a:xfrm>
            <a:off x="6568250" y="1836825"/>
            <a:ext cx="2092075" cy="16527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  <a:solidFill>
            <a:srgbClr val="F2735E"/>
          </a:solidFill>
          <a:effectLst>
            <a:outerShdw blurRad="71438" dist="19050" dir="5400000" algn="bl" rotWithShape="0">
              <a:srgbClr val="000000">
                <a:alpha val="51000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pic>
        <p:nvPicPr>
          <p:cNvPr id="18" name="Google Shape;18;p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52400" y="196525"/>
            <a:ext cx="1785374" cy="62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able of Contents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/>
        </p:nvSpPr>
        <p:spPr>
          <a:xfrm>
            <a:off x="311700" y="445025"/>
            <a:ext cx="632700" cy="572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" name="Google Shape;22;p4"/>
          <p:cNvPicPr preferRelativeResize="0"/>
          <p:nvPr userDrawn="1"/>
        </p:nvPicPr>
        <p:blipFill rotWithShape="1">
          <a:blip r:embed="rId2"/>
          <a:srcRect l="25636" t="25500" r="19712" b="25030"/>
          <a:stretch>
            <a:fillRect/>
          </a:stretch>
        </p:blipFill>
        <p:spPr>
          <a:xfrm>
            <a:off x="327200" y="459053"/>
            <a:ext cx="601700" cy="544635"/>
          </a:xfrm>
          <a:prstGeom prst="rect">
            <a:avLst/>
          </a:prstGeom>
          <a:noFill/>
          <a:ln w="9525" cap="flat" cmpd="sng">
            <a:solidFill>
              <a:srgbClr val="F2735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82400" y="445025"/>
            <a:ext cx="79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 dirty="0"/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&amp; Body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●"/>
              <a:defRPr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○"/>
              <a:defRPr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aleway Light"/>
              <a:buChar char="■"/>
              <a:defRPr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0" name="Google Shape;30;p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4" name="Google Shape;34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9" name="Google Shape;39;p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43" name="Google Shape;43;p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0" name="Google Shape;50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4" name="Google Shape;54;p1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wo columns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p11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60" name="Google Shape;60;p1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ig number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63" name="Google Shape;63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65" name="Google Shape;65;p1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019122" y="4253053"/>
            <a:ext cx="887575" cy="694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F2735E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aleway SemiBold"/>
              <a:buNone/>
              <a:defRPr sz="28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  <a:defRPr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lvl="1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lvl="2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lvl="3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lvl="4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lvl="5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lvl="6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lvl="7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lvl="8" rtl="0">
              <a:buNone/>
              <a:defRPr sz="85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ctrTitle"/>
          </p:nvPr>
        </p:nvSpPr>
        <p:spPr>
          <a:xfrm>
            <a:off x="152400" y="1836825"/>
            <a:ext cx="4775400" cy="10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Project#1: Project Title</a:t>
            </a:r>
            <a:endParaRPr dirty="0"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"/>
          </p:nvPr>
        </p:nvSpPr>
        <p:spPr>
          <a:xfrm>
            <a:off x="152400" y="2934525"/>
            <a:ext cx="5708400" cy="9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35" dirty="0"/>
              <a:t>Supervised </a:t>
            </a:r>
            <a:r>
              <a:rPr lang="en-GB" sz="1435" dirty="0" smtClean="0"/>
              <a:t>by:</a:t>
            </a:r>
            <a:endParaRPr lang="en-GB" sz="1435" dirty="0" smtClean="0"/>
          </a:p>
          <a:p>
            <a:pPr marL="0" lvl="0" indent="0">
              <a:lnSpc>
                <a:spcPct val="105000"/>
              </a:lnSpc>
              <a:buClr>
                <a:schemeClr val="dk1"/>
              </a:buClr>
              <a:buSzPts val="1100"/>
            </a:pPr>
            <a:r>
              <a:rPr lang="en-US" sz="1435" dirty="0" err="1"/>
              <a:t>Taghreed</a:t>
            </a:r>
            <a:r>
              <a:rPr lang="en-US" sz="1435" dirty="0"/>
              <a:t> Salem</a:t>
            </a:r>
            <a:endParaRPr sz="1435" dirty="0"/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142008" y="3886526"/>
            <a:ext cx="8812800" cy="9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Team Members: </a:t>
            </a:r>
            <a:endParaRPr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 smtClean="0">
                <a:latin typeface="Raleway Light"/>
                <a:ea typeface="Raleway Light"/>
                <a:cs typeface="Raleway Light"/>
                <a:sym typeface="Raleway Light"/>
              </a:rPr>
              <a:t>Aml Mahmoud 240101414</a:t>
            </a: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 smtClean="0">
                <a:latin typeface="Raleway Light"/>
                <a:ea typeface="Raleway Light"/>
                <a:cs typeface="Raleway Light"/>
                <a:sym typeface="Raleway Light"/>
              </a:rPr>
              <a:t>Mazen Ahmed</a:t>
            </a:r>
            <a:r>
              <a:rPr lang="en-GB" sz="1000" b="0" dirty="0" smtClean="0">
                <a:latin typeface="Raleway Light"/>
                <a:ea typeface="Raleway Light"/>
                <a:cs typeface="Raleway Light"/>
                <a:sym typeface="Raleway Light"/>
              </a:rPr>
              <a:t> </a:t>
            </a:r>
            <a:r>
              <a:rPr lang="en-US" sz="1000" b="0" dirty="0" smtClean="0">
                <a:latin typeface="Raleway Light"/>
                <a:ea typeface="Raleway Light"/>
                <a:cs typeface="Raleway Light"/>
                <a:sym typeface="Raleway Light"/>
              </a:rPr>
              <a:t>240101129</a:t>
            </a: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 smtClean="0">
                <a:latin typeface="Raleway Light"/>
                <a:ea typeface="Raleway Light"/>
                <a:cs typeface="Raleway Light"/>
                <a:sym typeface="Raleway Light"/>
              </a:rPr>
              <a:t>Omar Ameen 240102951</a:t>
            </a:r>
            <a:endParaRPr lang="en-GB" sz="1000" b="0" dirty="0" smtClean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 smtClean="0">
                <a:latin typeface="Raleway Light"/>
                <a:ea typeface="Raleway Light"/>
                <a:cs typeface="Raleway Light"/>
                <a:sym typeface="Raleway Light"/>
              </a:rPr>
              <a:t>El Hassan Waleed 240101584</a:t>
            </a:r>
            <a:endParaRPr lang="en-GB" sz="1000" b="0" dirty="0" smtClean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r>
              <a:rPr lang="en-GB" sz="1000" b="0" dirty="0" smtClean="0">
                <a:latin typeface="Raleway Light"/>
                <a:ea typeface="Raleway Light"/>
                <a:cs typeface="Raleway Light"/>
                <a:sym typeface="Raleway Light"/>
              </a:rPr>
              <a:t>Ahmed Osama 230105887</a:t>
            </a:r>
            <a:endParaRPr lang="en-GB" sz="1000" b="0" dirty="0" smtClean="0">
              <a:latin typeface="Raleway Light"/>
              <a:ea typeface="Raleway Light"/>
              <a:cs typeface="Raleway Light"/>
              <a:sym typeface="Raleway Ligh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Font typeface="Raleway Light"/>
              <a:buChar char="●"/>
            </a:pPr>
            <a:endParaRPr sz="1000" b="0" dirty="0"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82400" y="445025"/>
            <a:ext cx="794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Table of Contents</a:t>
            </a:r>
            <a:endParaRPr dirty="0"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Introduction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Motivation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System Overview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Similar Systems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 dirty="0">
                <a:latin typeface="Raleway"/>
                <a:ea typeface="Raleway"/>
                <a:cs typeface="Raleway"/>
                <a:sym typeface="Raleway"/>
              </a:rPr>
              <a:t>What Makes Our System Unique?</a:t>
            </a:r>
            <a:endParaRPr dirty="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Problem Statement</a:t>
            </a:r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Phishing attacks are one of the </a:t>
            </a:r>
            <a:r>
              <a:rPr lang="en-US" b="1" dirty="0"/>
              <a:t>fastest-growing cyber threats </a:t>
            </a:r>
            <a:r>
              <a:rPr lang="en-US" b="1" dirty="0" smtClean="0"/>
              <a:t>worldwide</a:t>
            </a:r>
            <a:endParaRPr lang="ar-EG" b="1" dirty="0" smtClean="0"/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Businesses lose </a:t>
            </a:r>
            <a:r>
              <a:rPr lang="en-US" b="1" dirty="0"/>
              <a:t>millions annually</a:t>
            </a:r>
            <a:r>
              <a:rPr lang="en-US" dirty="0"/>
              <a:t> due to phishing-related </a:t>
            </a:r>
            <a:r>
              <a:rPr lang="en-US" dirty="0" smtClean="0"/>
              <a:t>breaches</a:t>
            </a:r>
            <a:endParaRPr lang="ar-EG" dirty="0" smtClean="0"/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Many organizations lack affordable and flexible email security </a:t>
            </a:r>
            <a:r>
              <a:rPr lang="en-US" dirty="0" smtClean="0"/>
              <a:t>solutions</a:t>
            </a:r>
            <a:endParaRPr lang="ar-EG" dirty="0"/>
          </a:p>
          <a:p>
            <a:endParaRPr lang="en-US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Page - </a:t>
            </a:r>
            <a:fld id="{00000000-1234-1234-1234-123412341234}" type="slidenum"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</a:fld>
            <a:endParaRPr sz="850" b="0">
              <a:solidFill>
                <a:schemeClr val="dk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Project Idea</a:t>
            </a:r>
            <a:endParaRPr dirty="0"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r>
              <a:rPr lang="en-US" dirty="0" smtClean="0"/>
              <a:t>Develop a </a:t>
            </a:r>
            <a:r>
              <a:rPr lang="en-US" b="1" dirty="0" smtClean="0"/>
              <a:t>Phishing Email Detection System</a:t>
            </a:r>
            <a:r>
              <a:rPr lang="en-US" dirty="0" smtClean="0"/>
              <a:t> to identify phishing emails automatically.</a:t>
            </a:r>
            <a:endParaRPr lang="en-US" dirty="0" smtClean="0"/>
          </a:p>
          <a:p>
            <a:r>
              <a:rPr lang="en-US" dirty="0" smtClean="0"/>
              <a:t>Classify emails as </a:t>
            </a:r>
            <a:r>
              <a:rPr lang="en-US" b="1" dirty="0" smtClean="0"/>
              <a:t>Legitimate or Phishing</a:t>
            </a:r>
            <a:r>
              <a:rPr lang="en-US" dirty="0" smtClean="0"/>
              <a:t> using content and metadata analysis.</a:t>
            </a:r>
            <a:endParaRPr lang="en-US" dirty="0" smtClean="0"/>
          </a:p>
          <a:p>
            <a:r>
              <a:rPr lang="en-US" dirty="0" smtClean="0"/>
              <a:t>Use a </a:t>
            </a:r>
            <a:r>
              <a:rPr lang="en-US" b="1" dirty="0" smtClean="0"/>
              <a:t>hybrid approach</a:t>
            </a:r>
            <a:r>
              <a:rPr lang="en-US" dirty="0" smtClean="0"/>
              <a:t> combining:</a:t>
            </a:r>
            <a:endParaRPr lang="en-US" dirty="0" smtClean="0"/>
          </a:p>
          <a:p>
            <a:pPr lvl="1"/>
            <a:r>
              <a:rPr lang="en-US" dirty="0" smtClean="0"/>
              <a:t>Machine Learning</a:t>
            </a:r>
            <a:endParaRPr lang="en-US" dirty="0" smtClean="0"/>
          </a:p>
          <a:p>
            <a:pPr lvl="1"/>
            <a:r>
              <a:rPr lang="en-US" dirty="0" smtClean="0"/>
              <a:t>NLP techniques</a:t>
            </a:r>
            <a:endParaRPr lang="en-US" dirty="0" smtClean="0"/>
          </a:p>
          <a:p>
            <a:pPr lvl="1"/>
            <a:r>
              <a:rPr lang="en-US" dirty="0" smtClean="0"/>
              <a:t>Rule-based URL and header checks</a:t>
            </a:r>
            <a:endParaRPr lang="en-US" dirty="0" smtClean="0"/>
          </a:p>
          <a:p>
            <a:r>
              <a:rPr lang="en-US" dirty="0" smtClean="0"/>
              <a:t>Apply </a:t>
            </a:r>
            <a:r>
              <a:rPr lang="en-US" b="1" dirty="0" smtClean="0"/>
              <a:t>TF-IDF</a:t>
            </a:r>
            <a:r>
              <a:rPr lang="en-US" dirty="0" smtClean="0"/>
              <a:t> for feature extraction from email text.</a:t>
            </a:r>
            <a:endParaRPr lang="en-US" dirty="0" smtClean="0"/>
          </a:p>
          <a:p>
            <a:r>
              <a:rPr lang="en-US" dirty="0" smtClean="0"/>
              <a:t>Use </a:t>
            </a:r>
            <a:r>
              <a:rPr lang="en-US" b="1" dirty="0" smtClean="0"/>
              <a:t>classical ML algorithms</a:t>
            </a:r>
            <a:r>
              <a:rPr lang="en-US" dirty="0" smtClean="0"/>
              <a:t> (Logistic Regression, Naive Bayes, SVM, Random Forest).</a:t>
            </a:r>
            <a:endParaRPr lang="en-US" dirty="0" smtClean="0"/>
          </a:p>
          <a:p>
            <a:r>
              <a:rPr lang="en-US" dirty="0" smtClean="0"/>
              <a:t>Implement a </a:t>
            </a:r>
            <a:r>
              <a:rPr lang="en-US" b="1" dirty="0" smtClean="0"/>
              <a:t>multi-stage detection engine</a:t>
            </a:r>
            <a:r>
              <a:rPr lang="en-US" dirty="0" smtClean="0"/>
              <a:t> to improve accuracy and robustness.</a:t>
            </a:r>
            <a:endParaRPr lang="en-US" dirty="0" smtClean="0"/>
          </a:p>
          <a:p>
            <a:r>
              <a:rPr lang="en-US" dirty="0" smtClean="0"/>
              <a:t>Provide </a:t>
            </a:r>
            <a:r>
              <a:rPr lang="en-US" b="1" dirty="0" smtClean="0"/>
              <a:t>real-time results</a:t>
            </a:r>
            <a:r>
              <a:rPr lang="en-US" dirty="0" smtClean="0"/>
              <a:t> with confidence scores and explanations.</a:t>
            </a:r>
            <a:endParaRPr lang="en-US" dirty="0" smtClean="0"/>
          </a:p>
          <a:p>
            <a:r>
              <a:rPr lang="en-US" dirty="0" smtClean="0"/>
              <a:t>Offer a </a:t>
            </a:r>
            <a:r>
              <a:rPr lang="en-US" b="1" dirty="0" smtClean="0"/>
              <a:t>web-based interface</a:t>
            </a:r>
            <a:r>
              <a:rPr lang="en-US" dirty="0" smtClean="0"/>
              <a:t> with persistent scan logging.</a:t>
            </a:r>
            <a:endParaRPr lang="en-US" dirty="0" smtClean="0"/>
          </a:p>
          <a:p>
            <a:r>
              <a:rPr lang="en-US" dirty="0" smtClean="0"/>
              <a:t>Deliver a </a:t>
            </a:r>
            <a:r>
              <a:rPr lang="en-US" b="1" dirty="0" smtClean="0"/>
              <a:t>lightweight, explainable, and practical</a:t>
            </a:r>
            <a:r>
              <a:rPr lang="en-US" dirty="0" smtClean="0"/>
              <a:t> phishing detection solution.</a:t>
            </a:r>
            <a:endParaRPr lang="en-US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Page - </a:t>
            </a:r>
            <a:fld id="{00000000-1234-1234-1234-123412341234}" type="slidenum">
              <a:rPr lang="en-GB" sz="850" b="0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</a:fld>
            <a:endParaRPr sz="850" b="0">
              <a:solidFill>
                <a:schemeClr val="dk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Motivation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Scientific Perspective</a:t>
            </a:r>
            <a:endParaRPr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b="1" dirty="0"/>
              <a:t>Research Gaps Addressed</a:t>
            </a:r>
            <a:endParaRPr lang="en-US" b="1" dirty="0"/>
          </a:p>
          <a:p>
            <a:r>
              <a:rPr lang="en-US" dirty="0" smtClean="0"/>
              <a:t>Limited </a:t>
            </a:r>
            <a:r>
              <a:rPr lang="en-US" dirty="0"/>
              <a:t>use of </a:t>
            </a:r>
            <a:r>
              <a:rPr lang="en-US" b="1" dirty="0"/>
              <a:t>hybrid detection approaches</a:t>
            </a:r>
            <a:r>
              <a:rPr lang="en-US" dirty="0"/>
              <a:t> combining machine learning with rule-based analysis.</a:t>
            </a:r>
            <a:endParaRPr lang="en-US" dirty="0"/>
          </a:p>
          <a:p>
            <a:r>
              <a:rPr lang="en-US" dirty="0"/>
              <a:t>Lack of </a:t>
            </a:r>
            <a:r>
              <a:rPr lang="en-US" b="1" dirty="0" smtClean="0"/>
              <a:t>explain ability</a:t>
            </a:r>
            <a:r>
              <a:rPr lang="en-US" dirty="0" smtClean="0"/>
              <a:t> </a:t>
            </a:r>
            <a:r>
              <a:rPr lang="en-US" dirty="0"/>
              <a:t>in many phishing detection systems, reducing trust and usability.</a:t>
            </a:r>
            <a:endParaRPr lang="en-US" dirty="0"/>
          </a:p>
          <a:p>
            <a:r>
              <a:rPr lang="en-US" dirty="0"/>
              <a:t>Poor </a:t>
            </a:r>
            <a:r>
              <a:rPr lang="en-US" b="1" dirty="0"/>
              <a:t>generalization to unseen, real-world emails</a:t>
            </a:r>
            <a:r>
              <a:rPr lang="en-US" dirty="0"/>
              <a:t> due to overfitting on benchmark datasets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Scientific Perspective</a:t>
            </a:r>
            <a:endParaRPr dirty="0"/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Scientific Support &amp; Relevant Studies</a:t>
            </a:r>
            <a:endParaRPr lang="en-US" b="1" dirty="0"/>
          </a:p>
          <a:p>
            <a:r>
              <a:rPr lang="en-US" dirty="0"/>
              <a:t>Research shows that </a:t>
            </a:r>
            <a:r>
              <a:rPr lang="en-US" b="1" dirty="0"/>
              <a:t>TF-IDF combined with classical ML algorithms</a:t>
            </a:r>
            <a:r>
              <a:rPr lang="en-US" dirty="0"/>
              <a:t> (SVM, Random Forest, Logistic Regression) performs effectively in phishing detection.</a:t>
            </a:r>
            <a:endParaRPr lang="en-US" dirty="0"/>
          </a:p>
          <a:p>
            <a:r>
              <a:rPr lang="en-US" dirty="0"/>
              <a:t>Studies confirm that </a:t>
            </a:r>
            <a:r>
              <a:rPr lang="en-US" b="1" dirty="0"/>
              <a:t>URL-based lexical features</a:t>
            </a:r>
            <a:r>
              <a:rPr lang="en-US" dirty="0"/>
              <a:t> significantly improve phishing detection accuracy.</a:t>
            </a:r>
            <a:endParaRPr lang="en-US" dirty="0"/>
          </a:p>
          <a:p>
            <a:r>
              <a:rPr lang="en-US" dirty="0"/>
              <a:t>Literature reviews highlight that </a:t>
            </a:r>
            <a:r>
              <a:rPr lang="en-US" b="1" dirty="0"/>
              <a:t>hybrid systems</a:t>
            </a:r>
            <a:r>
              <a:rPr lang="en-US" dirty="0"/>
              <a:t> outperform single-technique models in handling evolving phishing strategies.</a:t>
            </a:r>
            <a:endParaRPr lang="en-US" dirty="0"/>
          </a:p>
          <a:p>
            <a:r>
              <a:rPr lang="en-US" dirty="0"/>
              <a:t>Existing research emphasizes the need for </a:t>
            </a:r>
            <a:r>
              <a:rPr lang="en-US" b="1" dirty="0"/>
              <a:t>lightweight, interpretable, and deployable</a:t>
            </a:r>
            <a:r>
              <a:rPr lang="en-US" dirty="0"/>
              <a:t> phishing detection systems for practical use.</a:t>
            </a:r>
            <a:endParaRPr lang="en-US" dirty="0"/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Market Perspective</a:t>
            </a:r>
            <a:endParaRPr dirty="0"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US" b="1" dirty="0"/>
              <a:t>Market Demand &amp; Trends</a:t>
            </a:r>
            <a:endParaRPr lang="en-US" b="1" dirty="0"/>
          </a:p>
          <a:p>
            <a:r>
              <a:rPr lang="en-US" dirty="0"/>
              <a:t>Rapid growth in phishing and social engineering attacks.</a:t>
            </a:r>
            <a:endParaRPr lang="en-US" dirty="0"/>
          </a:p>
          <a:p>
            <a:r>
              <a:rPr lang="en-US" dirty="0"/>
              <a:t>Increasing use of AI-generated phishing emails.</a:t>
            </a:r>
            <a:endParaRPr lang="en-US" dirty="0"/>
          </a:p>
          <a:p>
            <a:r>
              <a:rPr lang="en-US" dirty="0"/>
              <a:t>High demand for affordable and easy-to-deploy email security solutions.</a:t>
            </a:r>
            <a:endParaRPr lang="en-US" dirty="0"/>
          </a:p>
          <a:p>
            <a:r>
              <a:rPr lang="en-US" dirty="0"/>
              <a:t>Growing interest in explainable cybersecurity systems</a:t>
            </a:r>
            <a:r>
              <a:rPr lang="en-US" dirty="0" smtClean="0"/>
              <a:t>.</a:t>
            </a:r>
            <a:endParaRPr lang="ar-EG" dirty="0" smtClean="0"/>
          </a:p>
          <a:p>
            <a:pPr marL="114300" indent="0">
              <a:buNone/>
            </a:pPr>
            <a:r>
              <a:rPr lang="en-US" b="1" dirty="0"/>
              <a:t>Impact &amp; Benefits</a:t>
            </a:r>
            <a:endParaRPr lang="en-US" b="1" dirty="0"/>
          </a:p>
          <a:p>
            <a:r>
              <a:rPr lang="en-US" dirty="0"/>
              <a:t>Reduces phishing-related risks and losses.</a:t>
            </a:r>
            <a:endParaRPr lang="en-US" dirty="0"/>
          </a:p>
          <a:p>
            <a:r>
              <a:rPr lang="en-US" dirty="0"/>
              <a:t>Improves user awareness and trust.</a:t>
            </a:r>
            <a:endParaRPr lang="en-US" dirty="0"/>
          </a:p>
          <a:p>
            <a:r>
              <a:rPr lang="en-US" dirty="0"/>
              <a:t>Provides real-time, transparent email protection.</a:t>
            </a:r>
            <a:endParaRPr lang="en-US" dirty="0"/>
          </a:p>
          <a:p>
            <a:r>
              <a:rPr lang="en-US" dirty="0"/>
              <a:t>Suitable for organizations, universities, and individuals.</a:t>
            </a:r>
            <a:endParaRPr lang="en-US" dirty="0"/>
          </a:p>
          <a:p>
            <a:endParaRPr lang="en-US" dirty="0"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System Overview Diagram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System Overview</a:t>
            </a:r>
            <a:endParaRPr dirty="0"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501650" lvl="0">
              <a:spcBef>
                <a:spcPts val="1200"/>
              </a:spcBef>
              <a:buSzPts val="1100"/>
              <a:buFont typeface="+mj-lt"/>
              <a:buAutoNum type="arabicParenR"/>
            </a:pPr>
            <a:r>
              <a:rPr lang="en-US" dirty="0"/>
              <a:t>User Input Layer</a:t>
            </a:r>
            <a:endParaRPr lang="en-US" dirty="0"/>
          </a:p>
          <a:p>
            <a:pPr marL="501650" lvl="0">
              <a:spcBef>
                <a:spcPts val="1200"/>
              </a:spcBef>
              <a:buSzPts val="1100"/>
              <a:buFont typeface="+mj-lt"/>
              <a:buAutoNum type="arabicParenR"/>
            </a:pPr>
            <a:r>
              <a:rPr lang="en-US" dirty="0"/>
              <a:t>Flask Web Application (routes.py)</a:t>
            </a:r>
            <a:endParaRPr lang="en-US" dirty="0"/>
          </a:p>
          <a:p>
            <a:pPr marL="501650" lvl="0">
              <a:spcBef>
                <a:spcPts val="1200"/>
              </a:spcBef>
              <a:buSzPts val="1100"/>
              <a:buFont typeface="+mj-lt"/>
              <a:buAutoNum type="arabicParenR"/>
            </a:pPr>
            <a:r>
              <a:rPr lang="en-US" dirty="0"/>
              <a:t>Detection Engine (processor.py)</a:t>
            </a:r>
            <a:endParaRPr lang="en-US" dirty="0"/>
          </a:p>
          <a:p>
            <a:pPr marL="501650" lvl="0">
              <a:spcBef>
                <a:spcPts val="1200"/>
              </a:spcBef>
              <a:buSzPts val="1100"/>
              <a:buFont typeface="+mj-lt"/>
              <a:buAutoNum type="arabicParenR"/>
            </a:pPr>
            <a:r>
              <a:rPr lang="en-US" dirty="0"/>
              <a:t>Four Parallel Detection Handlers</a:t>
            </a:r>
            <a:endParaRPr lang="en-US" dirty="0"/>
          </a:p>
          <a:p>
            <a:pPr marL="501650" lvl="0">
              <a:spcBef>
                <a:spcPts val="1200"/>
              </a:spcBef>
              <a:buSzPts val="1100"/>
              <a:buFont typeface="+mj-lt"/>
              <a:buAutoNum type="arabicParenR"/>
            </a:pPr>
            <a:r>
              <a:rPr lang="en-US" dirty="0"/>
              <a:t>Result Generation</a:t>
            </a:r>
            <a:endParaRPr lang="en-US" dirty="0"/>
          </a:p>
          <a:p>
            <a:pPr marL="501650" lvl="0">
              <a:spcBef>
                <a:spcPts val="1200"/>
              </a:spcBef>
              <a:buSzPts val="1100"/>
              <a:buFont typeface="+mj-lt"/>
              <a:buAutoNum type="arabicParenR"/>
            </a:pPr>
            <a:r>
              <a:rPr lang="en-US" dirty="0"/>
              <a:t>SQLite Logger (logger.py)</a:t>
            </a:r>
            <a:endParaRPr lang="en-US" dirty="0"/>
          </a:p>
          <a:p>
            <a:pPr marL="501650" lvl="0">
              <a:spcBef>
                <a:spcPts val="1200"/>
              </a:spcBef>
              <a:buSzPts val="1100"/>
              <a:buFont typeface="+mj-lt"/>
              <a:buAutoNum type="arabicParenR"/>
            </a:pPr>
            <a:r>
              <a:rPr lang="en-US" dirty="0"/>
              <a:t>Dashboard &amp; </a:t>
            </a:r>
            <a:r>
              <a:rPr lang="en-US" dirty="0" err="1"/>
              <a:t>Visualizationa</a:t>
            </a:r>
            <a:endParaRPr lang="en-US" dirty="0"/>
          </a:p>
        </p:txBody>
      </p:sp>
      <p:sp>
        <p:nvSpPr>
          <p:cNvPr id="131" name="Google Shape;131;p23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" name="Picture 3" descr="C:\Users\Lenovo\Downloads\system_diagram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682" y="1059873"/>
            <a:ext cx="4129255" cy="385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Similar Systems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Similar System (1) (2) (3)</a:t>
            </a:r>
            <a:endParaRPr dirty="0"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System #1: </a:t>
            </a:r>
            <a:r>
              <a:rPr lang="en-US" sz="2000" b="1" dirty="0" err="1"/>
              <a:t>PhishHaven</a:t>
            </a:r>
            <a:r>
              <a:rPr lang="en-US" sz="2000" b="1" dirty="0"/>
              <a:t> (2020)</a:t>
            </a:r>
            <a:endParaRPr lang="en-US" sz="2000" b="1" dirty="0"/>
          </a:p>
          <a:p>
            <a:pPr marL="114300" indent="0">
              <a:buNone/>
            </a:pPr>
            <a:r>
              <a:rPr lang="en-US" sz="1700" b="1" dirty="0"/>
              <a:t>What it does:</a:t>
            </a:r>
            <a:endParaRPr lang="en-US" sz="1700" dirty="0"/>
          </a:p>
          <a:p>
            <a:pPr marL="114300" indent="0">
              <a:buNone/>
            </a:pPr>
            <a:r>
              <a:rPr lang="en-US" sz="1400" dirty="0"/>
              <a:t>Detects AI-generated phishing URLs using ensemble ML</a:t>
            </a:r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Features:</a:t>
            </a:r>
            <a:endParaRPr lang="en-US" sz="1400" dirty="0"/>
          </a:p>
          <a:p>
            <a:pPr marL="114300" indent="0">
              <a:buNone/>
            </a:pPr>
            <a:r>
              <a:rPr lang="en-US" sz="1400" dirty="0"/>
              <a:t>10 parallel ML models (SVM, Random Forest, etc.)</a:t>
            </a:r>
            <a:endParaRPr lang="en-US" sz="1400" dirty="0"/>
          </a:p>
          <a:p>
            <a:pPr marL="114300" indent="0">
              <a:buNone/>
            </a:pPr>
            <a:r>
              <a:rPr lang="en-US" sz="1400" dirty="0"/>
              <a:t>Very high accuracy on phishing URLs</a:t>
            </a:r>
            <a:endParaRPr lang="en-US" sz="1400" dirty="0"/>
          </a:p>
          <a:p>
            <a:pPr marL="114300" indent="0">
              <a:buNone/>
            </a:pPr>
            <a:r>
              <a:rPr lang="en-US" sz="1400" dirty="0"/>
              <a:t>Analyzes URL structure and patterns</a:t>
            </a:r>
            <a:endParaRPr lang="en-US" sz="1400" dirty="0"/>
          </a:p>
          <a:p>
            <a:pPr marL="114300" indent="0">
              <a:buNone/>
            </a:pPr>
            <a:r>
              <a:rPr lang="en-US" sz="1400" b="1" dirty="0"/>
              <a:t>Limitations:</a:t>
            </a:r>
            <a:endParaRPr lang="en-US" sz="1400" dirty="0"/>
          </a:p>
          <a:p>
            <a:pPr marL="114300" indent="0">
              <a:buNone/>
            </a:pPr>
            <a:r>
              <a:rPr lang="en-US" sz="1400" dirty="0" smtClean="0"/>
              <a:t>URL-only </a:t>
            </a:r>
            <a:r>
              <a:rPr lang="en-US" sz="1400" dirty="0"/>
              <a:t>(ignores email content)</a:t>
            </a:r>
            <a:endParaRPr lang="en-US" sz="1400" dirty="0"/>
          </a:p>
          <a:p>
            <a:pPr marL="114300" indent="0">
              <a:buNone/>
            </a:pPr>
            <a:r>
              <a:rPr lang="en-US" sz="1400" dirty="0" smtClean="0"/>
              <a:t>No </a:t>
            </a:r>
            <a:r>
              <a:rPr lang="en-US" sz="1400" dirty="0"/>
              <a:t>header analysis</a:t>
            </a:r>
            <a:endParaRPr lang="en-US" sz="1400" dirty="0"/>
          </a:p>
          <a:p>
            <a:pPr marL="114300" indent="0">
              <a:buNone/>
            </a:pPr>
            <a:r>
              <a:rPr lang="en-US" sz="1400" dirty="0" smtClean="0"/>
              <a:t>Misses </a:t>
            </a:r>
            <a:r>
              <a:rPr lang="en-US" sz="1400" dirty="0"/>
              <a:t>text-based </a:t>
            </a:r>
            <a:r>
              <a:rPr lang="en-US" sz="1400" dirty="0" smtClean="0"/>
              <a:t>phishing</a:t>
            </a:r>
            <a:endParaRPr lang="en-US" sz="1400" dirty="0" smtClean="0"/>
          </a:p>
          <a:p>
            <a:pPr marL="114300" indent="0">
              <a:buNone/>
            </a:pPr>
            <a:endParaRPr lang="en-US" sz="1200" dirty="0"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Similar System (1) (2) (3)</a:t>
            </a:r>
            <a:endParaRPr dirty="0"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en-US" sz="2000" b="1" dirty="0"/>
              <a:t>System #2: BERT + LSTM Model (2023)</a:t>
            </a:r>
            <a:endParaRPr lang="en-US" sz="2000" b="1" dirty="0"/>
          </a:p>
          <a:p>
            <a:pPr marL="114300" indent="0">
              <a:buNone/>
            </a:pPr>
            <a:r>
              <a:rPr lang="en-US" sz="1600" b="1" dirty="0" smtClean="0"/>
              <a:t>What </a:t>
            </a:r>
            <a:r>
              <a:rPr lang="en-US" sz="1600" b="1" dirty="0"/>
              <a:t>it does:</a:t>
            </a:r>
            <a:endParaRPr lang="en-US" sz="1600" dirty="0"/>
          </a:p>
          <a:p>
            <a:pPr marL="114300" indent="0">
              <a:buNone/>
            </a:pPr>
            <a:r>
              <a:rPr lang="en-US" sz="2000" dirty="0" smtClean="0"/>
              <a:t> Deep </a:t>
            </a:r>
            <a:r>
              <a:rPr lang="en-US" sz="2000" dirty="0"/>
              <a:t>learning with transformer architecture</a:t>
            </a:r>
            <a:endParaRPr lang="en-US" sz="2000" dirty="0"/>
          </a:p>
          <a:p>
            <a:pPr marL="114300" indent="0">
              <a:buNone/>
            </a:pPr>
            <a:r>
              <a:rPr lang="en-US" sz="1600" b="1" dirty="0"/>
              <a:t>Features:</a:t>
            </a:r>
            <a:endParaRPr lang="en-US" sz="1600" dirty="0"/>
          </a:p>
          <a:p>
            <a:pPr marL="114300" indent="0">
              <a:buNone/>
            </a:pPr>
            <a:r>
              <a:rPr lang="en-US" sz="2000" dirty="0"/>
              <a:t>Near-perfect accuracy (highest in field)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Advanced NLP for text understanding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State-of-the-art technology</a:t>
            </a:r>
            <a:endParaRPr lang="en-US" sz="2000" dirty="0"/>
          </a:p>
          <a:p>
            <a:pPr marL="114300" indent="0">
              <a:buNone/>
            </a:pPr>
            <a:r>
              <a:rPr lang="en-US" sz="1600" b="1" dirty="0"/>
              <a:t>Limitations:</a:t>
            </a:r>
            <a:endParaRPr lang="en-US" sz="1600" dirty="0"/>
          </a:p>
          <a:p>
            <a:pPr marL="114300" indent="0">
              <a:buNone/>
            </a:pPr>
            <a:r>
              <a:rPr lang="en-US" sz="2000" dirty="0" smtClean="0"/>
              <a:t> </a:t>
            </a:r>
            <a:r>
              <a:rPr lang="en-US" sz="2000" dirty="0"/>
              <a:t>Requires expensive </a:t>
            </a:r>
            <a:r>
              <a:rPr lang="en-US" sz="2000" dirty="0" smtClean="0"/>
              <a:t>GPU</a:t>
            </a:r>
            <a:endParaRPr lang="en-US" sz="2000" dirty="0" smtClean="0"/>
          </a:p>
          <a:p>
            <a:pPr marL="114300" indent="0">
              <a:buNone/>
            </a:pPr>
            <a:r>
              <a:rPr lang="en-US" sz="2000" dirty="0" smtClean="0"/>
              <a:t> Black box (no explanations)</a:t>
            </a:r>
            <a:endParaRPr lang="en-US" sz="2000" dirty="0" smtClean="0"/>
          </a:p>
          <a:p>
            <a:pPr marL="114300" indent="0">
              <a:buNone/>
            </a:pPr>
            <a:r>
              <a:rPr lang="en-US" sz="2000" dirty="0" smtClean="0"/>
              <a:t> </a:t>
            </a:r>
            <a:r>
              <a:rPr lang="en-US" sz="2000" dirty="0"/>
              <a:t>Slow (5-10 seconds per email)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 smtClean="0"/>
              <a:t> Hard </a:t>
            </a:r>
            <a:r>
              <a:rPr lang="en-US" sz="2000" dirty="0"/>
              <a:t>to maintain</a:t>
            </a:r>
            <a:endParaRPr lang="en-US" sz="2000" dirty="0"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Similar System (1) (2) (3)</a:t>
            </a:r>
            <a:endParaRPr dirty="0"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en-US" b="1" dirty="0"/>
              <a:t>System #3: </a:t>
            </a:r>
            <a:r>
              <a:rPr lang="en-US" b="1" dirty="0" err="1"/>
              <a:t>PhishNet</a:t>
            </a:r>
            <a:r>
              <a:rPr lang="en-US" b="1" dirty="0"/>
              <a:t>-NLP (2024)</a:t>
            </a:r>
            <a:endParaRPr lang="en-US" b="1" dirty="0"/>
          </a:p>
          <a:p>
            <a:pPr marL="114300" indent="0">
              <a:buNone/>
            </a:pPr>
            <a:r>
              <a:rPr lang="en-US" sz="1500" b="1" dirty="0"/>
              <a:t>What it does:</a:t>
            </a:r>
            <a:endParaRPr lang="en-US" sz="1500" dirty="0"/>
          </a:p>
          <a:p>
            <a:pPr marL="114300" indent="0">
              <a:buNone/>
            </a:pPr>
            <a:r>
              <a:rPr lang="en-US" dirty="0"/>
              <a:t>NLP-based with semantic </a:t>
            </a:r>
            <a:r>
              <a:rPr lang="en-US" dirty="0" smtClean="0"/>
              <a:t>analysis</a:t>
            </a:r>
            <a:endParaRPr lang="en-US" dirty="0" smtClean="0"/>
          </a:p>
          <a:p>
            <a:pPr marL="114300" indent="0">
              <a:buNone/>
            </a:pPr>
            <a:r>
              <a:rPr lang="en-US" sz="1500" b="1" dirty="0" smtClean="0"/>
              <a:t>Features:</a:t>
            </a:r>
            <a:endParaRPr lang="en-US" sz="1500" dirty="0" smtClean="0"/>
          </a:p>
          <a:p>
            <a:pPr marL="114300" indent="0">
              <a:buNone/>
            </a:pPr>
            <a:r>
              <a:rPr lang="en-US" dirty="0" smtClean="0"/>
              <a:t>Excellent </a:t>
            </a:r>
            <a:r>
              <a:rPr lang="en-US" dirty="0"/>
              <a:t>detection rate with minimal false alarms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WordNet semantic processing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Multi-layer analysis</a:t>
            </a:r>
            <a:endParaRPr lang="en-US" dirty="0"/>
          </a:p>
          <a:p>
            <a:pPr marL="114300" indent="0">
              <a:buNone/>
            </a:pPr>
            <a:r>
              <a:rPr lang="en-US" sz="1500" b="1" dirty="0"/>
              <a:t>Limitations:</a:t>
            </a:r>
            <a:endParaRPr lang="en-US" sz="1500" dirty="0"/>
          </a:p>
          <a:p>
            <a:pPr marL="114300" indent="0">
              <a:buNone/>
            </a:pPr>
            <a:r>
              <a:rPr lang="en-US" dirty="0" smtClean="0"/>
              <a:t> </a:t>
            </a:r>
            <a:r>
              <a:rPr lang="en-US" dirty="0"/>
              <a:t>English-only</a:t>
            </a:r>
            <a:endParaRPr lang="en-US" dirty="0"/>
          </a:p>
          <a:p>
            <a:pPr marL="114300" indent="0">
              <a:buNone/>
            </a:pPr>
            <a:r>
              <a:rPr lang="en-US" dirty="0" smtClean="0"/>
              <a:t> </a:t>
            </a:r>
            <a:r>
              <a:rPr lang="en-US" dirty="0"/>
              <a:t>Fails on short emails</a:t>
            </a:r>
            <a:endParaRPr lang="en-US" dirty="0"/>
          </a:p>
          <a:p>
            <a:pPr marL="114300" indent="0">
              <a:buNone/>
            </a:pPr>
            <a:r>
              <a:rPr lang="en-US" dirty="0" smtClean="0"/>
              <a:t> </a:t>
            </a:r>
            <a:r>
              <a:rPr lang="en-US" dirty="0"/>
              <a:t>No attachment scanning</a:t>
            </a:r>
            <a:endParaRPr lang="en-US" dirty="0"/>
          </a:p>
          <a:p>
            <a:pPr marL="114300" indent="0">
              <a:buNone/>
            </a:pPr>
            <a:r>
              <a:rPr lang="en-US" dirty="0" smtClean="0"/>
              <a:t> </a:t>
            </a:r>
            <a:r>
              <a:rPr lang="en-US" dirty="0"/>
              <a:t>Complex setup</a:t>
            </a:r>
            <a:endParaRPr lang="en-US" dirty="0"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What Makes Our System Unique?</a:t>
            </a:r>
            <a:endParaRPr dirty="0"/>
          </a:p>
        </p:txBody>
      </p:sp>
      <p:sp>
        <p:nvSpPr>
          <p:cNvPr id="149" name="Google Shape;149;p26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500" indent="-285750">
              <a:spcBef>
                <a:spcPts val="1200"/>
              </a:spcBef>
              <a:buSzPts val="1100"/>
            </a:pPr>
            <a:r>
              <a:rPr lang="en-US" sz="1600" dirty="0" smtClean="0"/>
              <a:t>We </a:t>
            </a:r>
            <a:r>
              <a:rPr lang="en-US" sz="1600" dirty="0"/>
              <a:t>check URLs </a:t>
            </a:r>
            <a:r>
              <a:rPr lang="en-US" sz="1600" b="1" dirty="0"/>
              <a:t>AND</a:t>
            </a:r>
            <a:r>
              <a:rPr lang="en-US" sz="1600" dirty="0"/>
              <a:t> email content </a:t>
            </a:r>
            <a:endParaRPr lang="en-US" sz="1600" dirty="0"/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sz="1600" dirty="0" smtClean="0"/>
              <a:t>Works </a:t>
            </a:r>
            <a:r>
              <a:rPr lang="en-US" sz="1600" dirty="0"/>
              <a:t>on regular computers (no GPU needed) </a:t>
            </a:r>
            <a:endParaRPr lang="en-US" sz="1600" dirty="0"/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sz="1600" dirty="0" smtClean="0"/>
              <a:t>Explains </a:t>
            </a:r>
            <a:r>
              <a:rPr lang="en-US" sz="1600" dirty="0"/>
              <a:t>WHY something is phishing </a:t>
            </a:r>
            <a:endParaRPr lang="en-US" sz="1600" dirty="0"/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sz="1600" dirty="0" smtClean="0"/>
              <a:t>Works </a:t>
            </a:r>
            <a:r>
              <a:rPr lang="en-US" sz="1600" dirty="0"/>
              <a:t>with short emails </a:t>
            </a:r>
            <a:endParaRPr lang="en-US" sz="1600" dirty="0"/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sz="1600" dirty="0" smtClean="0"/>
              <a:t>Has </a:t>
            </a:r>
            <a:r>
              <a:rPr lang="en-US" sz="1600" dirty="0"/>
              <a:t>a beautiful dashboard </a:t>
            </a:r>
            <a:endParaRPr lang="en-US" sz="1600" dirty="0"/>
          </a:p>
          <a:p>
            <a:pPr marL="444500" indent="-285750">
              <a:spcBef>
                <a:spcPts val="1200"/>
              </a:spcBef>
              <a:buSzPts val="1100"/>
            </a:pPr>
            <a:r>
              <a:rPr lang="en-US" sz="1600" dirty="0" smtClean="0"/>
              <a:t>Stores </a:t>
            </a:r>
            <a:r>
              <a:rPr lang="en-US" sz="1600" dirty="0"/>
              <a:t>all results for auditing</a:t>
            </a:r>
            <a:endParaRPr sz="1500" dirty="0"/>
          </a:p>
        </p:txBody>
      </p:sp>
      <p:sp>
        <p:nvSpPr>
          <p:cNvPr id="150" name="Google Shape;150;p26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Prototype</a:t>
            </a:r>
            <a:endParaRPr lang="en-GB"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311700" y="1262625"/>
            <a:ext cx="8520600" cy="323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62" name="Google Shape;162;p28"/>
          <p:cNvSpPr txBox="1">
            <a:spLocks noGrp="1"/>
          </p:cNvSpPr>
          <p:nvPr>
            <p:ph type="sldNum" idx="12"/>
          </p:nvPr>
        </p:nvSpPr>
        <p:spPr>
          <a:xfrm>
            <a:off x="311700" y="4568875"/>
            <a:ext cx="853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Page - </a:t>
            </a: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" name="Phishing Shield • Enterprise Threat Detection and 3 more pages - Personal - Microsoft​ Edge 2025-12-22 22-12-5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389120" y="2367915"/>
            <a:ext cx="365760" cy="365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0" y="1245900"/>
            <a:ext cx="9144000" cy="26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Questions?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4095</Words>
  <Application>WPS Presentation</Application>
  <PresentationFormat>On-screen Show (16:9)</PresentationFormat>
  <Paragraphs>174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SimSun</vt:lpstr>
      <vt:lpstr>Wingdings</vt:lpstr>
      <vt:lpstr>Arial</vt:lpstr>
      <vt:lpstr>Raleway SemiBold</vt:lpstr>
      <vt:lpstr>Raleway</vt:lpstr>
      <vt:lpstr>Raleway Light</vt:lpstr>
      <vt:lpstr>Nunito</vt:lpstr>
      <vt:lpstr>Microsoft YaHei</vt:lpstr>
      <vt:lpstr>Arial Unicode MS</vt:lpstr>
      <vt:lpstr>Simple Light</vt:lpstr>
      <vt:lpstr>Project#1: Project Title</vt:lpstr>
      <vt:lpstr>Table of Contents</vt:lpstr>
      <vt:lpstr>Introduction</vt:lpstr>
      <vt:lpstr>Problem Statement</vt:lpstr>
      <vt:lpstr>Project Idea</vt:lpstr>
      <vt:lpstr>Project Motivation</vt:lpstr>
      <vt:lpstr>Scientific Perspective</vt:lpstr>
      <vt:lpstr>Scientific Perspective</vt:lpstr>
      <vt:lpstr>Market Perspective</vt:lpstr>
      <vt:lpstr>System Overview Diagram</vt:lpstr>
      <vt:lpstr>System Overview</vt:lpstr>
      <vt:lpstr>Similar Systems</vt:lpstr>
      <vt:lpstr>Similar System (1) (2) (3)</vt:lpstr>
      <vt:lpstr>Similar System (1) (2) (3)</vt:lpstr>
      <vt:lpstr>Similar System (1) (2) (3)</vt:lpstr>
      <vt:lpstr>What Makes Our System Unique?</vt:lpstr>
      <vt:lpstr>Prototype</vt:lpstr>
      <vt:lpstr>Prototype</vt:lpstr>
      <vt:lpstr>Any 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Project#1: Project Title</dc:title>
  <dc:creator>hassan waleed</dc:creator>
  <cp:lastModifiedBy>Omar Ameen</cp:lastModifiedBy>
  <cp:revision>8</cp:revision>
  <dcterms:created xsi:type="dcterms:W3CDTF">2025-12-22T21:16:06Z</dcterms:created>
  <dcterms:modified xsi:type="dcterms:W3CDTF">2025-12-23T08:06:34Z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C06490E644CC45E987BD3CF6F7CC9645_12</vt:lpwstr>
  </property>
  <property fmtid="{D5CDD505-2E9C-101B-9397-08002B2CF9AE}" pid="3" name="KSOProductBuildVer">
    <vt:lpwstr>2057-12.2.0.23149</vt:lpwstr>
  </property>
</Properties>
</file>