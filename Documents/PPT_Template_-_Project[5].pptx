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77" r:id="rId6"/>
    <p:sldId id="275" r:id="rId7"/>
    <p:sldId id="260" r:id="rId8"/>
    <p:sldId id="278" r:id="rId9"/>
    <p:sldId id="261" r:id="rId10"/>
    <p:sldId id="262" r:id="rId11"/>
    <p:sldId id="272" r:id="rId12"/>
    <p:sldId id="279" r:id="rId13"/>
    <p:sldId id="263" r:id="rId14"/>
    <p:sldId id="280" r:id="rId15"/>
    <p:sldId id="264" r:id="rId16"/>
    <p:sldId id="265" r:id="rId17"/>
    <p:sldId id="266" r:id="rId18"/>
    <p:sldId id="276" r:id="rId19"/>
    <p:sldId id="281" r:id="rId20"/>
    <p:sldId id="282" r:id="rId21"/>
    <p:sldId id="283" r:id="rId22"/>
    <p:sldId id="268" r:id="rId23"/>
    <p:sldId id="269" r:id="rId24"/>
    <p:sldId id="286" r:id="rId25"/>
    <p:sldId id="285" r:id="rId26"/>
    <p:sldId id="287" r:id="rId27"/>
    <p:sldId id="288" r:id="rId28"/>
    <p:sldId id="289" r:id="rId29"/>
    <p:sldId id="292" r:id="rId30"/>
    <p:sldId id="284" r:id="rId31"/>
    <p:sldId id="270" r:id="rId32"/>
    <p:sldId id="293" r:id="rId33"/>
    <p:sldId id="271" r:id="rId34"/>
  </p:sldIdLst>
  <p:sldSz cx="9144000" cy="5143500" type="screen16x9"/>
  <p:notesSz cx="6858000" cy="9144000"/>
  <p:embeddedFontLst>
    <p:embeddedFont>
      <p:font typeface="Nunito" pitchFamily="2" charset="0"/>
      <p:regular r:id="rId36"/>
      <p:bold r:id="rId37"/>
      <p:italic r:id="rId38"/>
      <p:boldItalic r:id="rId39"/>
    </p:embeddedFont>
    <p:embeddedFont>
      <p:font typeface="Raleway" pitchFamily="2" charset="0"/>
      <p:regular r:id="rId40"/>
      <p:bold r:id="rId41"/>
      <p:italic r:id="rId42"/>
      <p:boldItalic r:id="rId43"/>
    </p:embeddedFont>
    <p:embeddedFont>
      <p:font typeface="Raleway Light" pitchFamily="2" charset="0"/>
      <p:regular r:id="rId44"/>
      <p:bold r:id="rId45"/>
      <p:italic r:id="rId46"/>
      <p:boldItalic r:id="rId47"/>
    </p:embeddedFont>
    <p:embeddedFont>
      <p:font typeface="Raleway SemiBold" pitchFamily="2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0684f8d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0684f8d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684f8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50684f8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0684f8d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0684f8d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50684f8d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50684f8d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50684f8d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50684f8d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0684f8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50684f8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78A4501-1CAD-5414-4244-86B746F8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>
            <a:extLst>
              <a:ext uri="{FF2B5EF4-FFF2-40B4-BE49-F238E27FC236}">
                <a16:creationId xmlns:a16="http://schemas.microsoft.com/office/drawing/2014/main" id="{31F54875-B772-88C1-4C37-17478CDCAF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>
            <a:extLst>
              <a:ext uri="{FF2B5EF4-FFF2-40B4-BE49-F238E27FC236}">
                <a16:creationId xmlns:a16="http://schemas.microsoft.com/office/drawing/2014/main" id="{250C46D2-8E69-CD7C-EA0E-B30482EFF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1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0684f8d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50684f8d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 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/>
          <a:srcRect r="2676"/>
          <a:stretch>
            <a:fillRect/>
          </a:stretch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/>
          <a:srcRect l="25636" t="25500" r="19712" b="25030"/>
          <a:stretch>
            <a:fillRect/>
          </a:stretch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399" y="1836825"/>
            <a:ext cx="6278137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Automated Phissing Email Detection and Reporting System</a:t>
            </a:r>
            <a:endParaRPr sz="3000"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35" dirty="0"/>
              <a:t>Supervised by:</a:t>
            </a:r>
          </a:p>
          <a:p>
            <a:pPr marL="0" lvl="0" indent="0">
              <a:lnSpc>
                <a:spcPct val="105000"/>
              </a:lnSpc>
              <a:buClr>
                <a:schemeClr val="dk1"/>
              </a:buClr>
              <a:buSzPts val="1100"/>
            </a:pPr>
            <a:r>
              <a:rPr lang="en-US" sz="1435" dirty="0"/>
              <a:t>Eng .Taghreed Salem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42008" y="3886526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Aml Mahmoud 240101414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Mazen Ahmed </a:t>
            </a:r>
            <a:r>
              <a:rPr lang="en-US" sz="1000" b="0" dirty="0">
                <a:latin typeface="Raleway Light"/>
                <a:ea typeface="Raleway Light"/>
                <a:cs typeface="Raleway Light"/>
                <a:sym typeface="Raleway Light"/>
              </a:rPr>
              <a:t>240101129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Omar Ameen 240102951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El Hassan Waleed 240101584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Ahmed Osama 230105887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System Overview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What Makes Our System Unique?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Statement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5486934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Phishing is a </a:t>
            </a:r>
            <a:r>
              <a:rPr lang="en-US" b="1" dirty="0"/>
              <a:t>cyber attack</a:t>
            </a:r>
            <a:r>
              <a:rPr lang="en-US" dirty="0"/>
              <a:t> where attackers </a:t>
            </a:r>
            <a:r>
              <a:rPr lang="en-US" b="1" dirty="0"/>
              <a:t>trick users</a:t>
            </a:r>
            <a:r>
              <a:rPr lang="en-US" dirty="0"/>
              <a:t> into giving their sensitive information.</a:t>
            </a:r>
          </a:p>
          <a:p>
            <a:r>
              <a:rPr lang="en-US" dirty="0"/>
              <a:t>Attackers send </a:t>
            </a:r>
            <a:r>
              <a:rPr lang="en-US" b="1" dirty="0"/>
              <a:t>fake emails, messages, or links</a:t>
            </a:r>
            <a:r>
              <a:rPr lang="en-US" dirty="0"/>
              <a:t> that look real</a:t>
            </a:r>
          </a:p>
          <a:p>
            <a:r>
              <a:rPr lang="en-US" dirty="0"/>
              <a:t>They pretend to be </a:t>
            </a:r>
            <a:r>
              <a:rPr lang="en-US" b="1" dirty="0"/>
              <a:t>banks, companies, or trusted organizations</a:t>
            </a:r>
            <a:endParaRPr lang="en-US" dirty="0"/>
          </a:p>
          <a:p>
            <a:r>
              <a:rPr lang="en-US" dirty="0"/>
              <a:t>Victims are asked to </a:t>
            </a:r>
            <a:r>
              <a:rPr lang="en-US" b="1" dirty="0"/>
              <a:t>click a link or enter login details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4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34" y="1408074"/>
            <a:ext cx="3361366" cy="2327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Phishing attacks target </a:t>
            </a:r>
            <a:r>
              <a:rPr lang="en-US" b="1" dirty="0"/>
              <a:t>anyone who uses email or online services</a:t>
            </a:r>
            <a:r>
              <a:rPr lang="en-US" dirty="0"/>
              <a:t>, including:</a:t>
            </a:r>
          </a:p>
          <a:p>
            <a:r>
              <a:rPr lang="en-US" b="1" dirty="0"/>
              <a:t>Individuals</a:t>
            </a:r>
            <a:r>
              <a:rPr lang="en-US" dirty="0"/>
              <a:t> (regular users)</a:t>
            </a:r>
          </a:p>
          <a:p>
            <a:r>
              <a:rPr lang="en-US" b="1" dirty="0"/>
              <a:t>Employees</a:t>
            </a:r>
            <a:r>
              <a:rPr lang="en-US" dirty="0"/>
              <a:t> in companies</a:t>
            </a:r>
          </a:p>
          <a:p>
            <a:r>
              <a:rPr lang="en-US" b="1" dirty="0"/>
              <a:t>Businesses and organizations</a:t>
            </a:r>
            <a:endParaRPr lang="en-US" dirty="0"/>
          </a:p>
          <a:p>
            <a:r>
              <a:rPr lang="en-US" b="1" dirty="0"/>
              <a:t>Banks and financial institutions</a:t>
            </a:r>
            <a:endParaRPr lang="en-US" dirty="0"/>
          </a:p>
          <a:p>
            <a:r>
              <a:rPr lang="en-US" b="1" dirty="0"/>
              <a:t>Students and universities</a:t>
            </a:r>
          </a:p>
          <a:p>
            <a:endParaRPr lang="en-US" b="1" dirty="0"/>
          </a:p>
          <a:p>
            <a:pPr marL="114300" indent="0">
              <a:buNone/>
            </a:pPr>
            <a:r>
              <a:rPr lang="en-US" dirty="0"/>
              <a:t>This can cause </a:t>
            </a:r>
            <a:r>
              <a:rPr lang="en-US" b="1" dirty="0"/>
              <a:t>financial loss</a:t>
            </a:r>
            <a:r>
              <a:rPr lang="en-US" dirty="0"/>
              <a:t>, </a:t>
            </a:r>
            <a:r>
              <a:rPr lang="en-US" b="1" dirty="0"/>
              <a:t>steal passwords and personal data</a:t>
            </a:r>
            <a:r>
              <a:rPr lang="en-US" dirty="0"/>
              <a:t>, or </a:t>
            </a:r>
            <a:r>
              <a:rPr lang="en-US" b="1" dirty="0"/>
              <a:t>disrupting organizations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Objectives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62625"/>
            <a:ext cx="6290578" cy="3699850"/>
          </a:xfrm>
        </p:spPr>
        <p:txBody>
          <a:bodyPr>
            <a:normAutofit/>
          </a:bodyPr>
          <a:lstStyle/>
          <a:p>
            <a:r>
              <a:rPr lang="en-US" dirty="0"/>
              <a:t>Implementing a phishing email detection system </a:t>
            </a:r>
          </a:p>
          <a:p>
            <a:r>
              <a:rPr lang="en-US" dirty="0"/>
              <a:t>A phishing email detection system helps </a:t>
            </a:r>
            <a:r>
              <a:rPr lang="en-US" b="1" dirty="0"/>
              <a:t>identify and block phishing emails</a:t>
            </a:r>
            <a:r>
              <a:rPr lang="en-US" dirty="0"/>
              <a:t> before they reach users.</a:t>
            </a:r>
          </a:p>
          <a:p>
            <a:r>
              <a:rPr lang="en-US" dirty="0"/>
              <a:t>Uses </a:t>
            </a:r>
            <a:r>
              <a:rPr lang="en-US" b="1" dirty="0"/>
              <a:t>machine learning and security rules</a:t>
            </a:r>
            <a:r>
              <a:rPr lang="en-US" dirty="0"/>
              <a:t> to analyze emails</a:t>
            </a:r>
          </a:p>
          <a:p>
            <a:r>
              <a:rPr lang="en-US" dirty="0"/>
              <a:t>Detects suspicious links, fake senders, and unusual content</a:t>
            </a:r>
          </a:p>
          <a:p>
            <a:r>
              <a:rPr lang="en-US" dirty="0"/>
              <a:t>Classifies emails as </a:t>
            </a:r>
            <a:r>
              <a:rPr lang="en-US" b="1" dirty="0"/>
              <a:t>Phishing</a:t>
            </a:r>
            <a:r>
              <a:rPr lang="en-US" dirty="0"/>
              <a:t> or </a:t>
            </a:r>
            <a:r>
              <a:rPr lang="en-US" b="1" dirty="0"/>
              <a:t>Safe</a:t>
            </a:r>
            <a:endParaRPr lang="en-US" dirty="0"/>
          </a:p>
          <a:p>
            <a:r>
              <a:rPr lang="en-US" dirty="0"/>
              <a:t>Warns users or automatically blocks malicious emails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47" y="1655842"/>
            <a:ext cx="2865453" cy="2443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/>
              <a:t>Classify emails as </a:t>
            </a:r>
            <a:r>
              <a:rPr lang="en-US" sz="2000" b="1" dirty="0"/>
              <a:t>Safe or Phishing</a:t>
            </a:r>
            <a:r>
              <a:rPr lang="en-US" sz="2000" dirty="0"/>
              <a:t> using content and header of the mail.</a:t>
            </a:r>
          </a:p>
          <a:p>
            <a:r>
              <a:rPr lang="en-US" sz="2000" dirty="0"/>
              <a:t>Use a </a:t>
            </a:r>
            <a:r>
              <a:rPr lang="en-US" sz="2000" b="1" dirty="0"/>
              <a:t>hybrid approach</a:t>
            </a:r>
            <a:r>
              <a:rPr lang="en-US" sz="2000" dirty="0"/>
              <a:t> combining:</a:t>
            </a:r>
          </a:p>
          <a:p>
            <a:pPr lvl="1"/>
            <a:r>
              <a:rPr lang="en-US" sz="1600" dirty="0"/>
              <a:t>Machine Learning</a:t>
            </a:r>
          </a:p>
          <a:p>
            <a:pPr lvl="1"/>
            <a:r>
              <a:rPr lang="en-US" sz="1600" dirty="0"/>
              <a:t>NLP techniques</a:t>
            </a:r>
          </a:p>
          <a:p>
            <a:pPr lvl="1"/>
            <a:r>
              <a:rPr lang="en-US" sz="1600" dirty="0"/>
              <a:t>Rule-based URL and header checks</a:t>
            </a:r>
          </a:p>
          <a:p>
            <a:r>
              <a:rPr lang="en-US" sz="2000" dirty="0"/>
              <a:t>Apply </a:t>
            </a:r>
            <a:r>
              <a:rPr lang="en-US" sz="2000" b="1" dirty="0"/>
              <a:t>TF-IDF</a:t>
            </a:r>
            <a:r>
              <a:rPr lang="en-US" sz="2000" dirty="0"/>
              <a:t> for feature extraction from email text.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7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Idea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classical ML algorithms</a:t>
            </a:r>
            <a:r>
              <a:rPr lang="en-US" dirty="0"/>
              <a:t> (Logistic Regression, Naive Bayes, SVM, Random Forest).</a:t>
            </a:r>
          </a:p>
          <a:p>
            <a:r>
              <a:rPr lang="en-US" dirty="0"/>
              <a:t>Implement a </a:t>
            </a:r>
            <a:r>
              <a:rPr lang="en-US" b="1" dirty="0"/>
              <a:t>multi-stage detection engine</a:t>
            </a:r>
            <a:r>
              <a:rPr lang="en-US" dirty="0"/>
              <a:t> to improve accuracy and robustness.</a:t>
            </a:r>
          </a:p>
          <a:p>
            <a:r>
              <a:rPr lang="en-US" dirty="0"/>
              <a:t>Provide </a:t>
            </a:r>
            <a:r>
              <a:rPr lang="en-US" b="1" dirty="0"/>
              <a:t>real-time results</a:t>
            </a:r>
            <a:r>
              <a:rPr lang="en-US" dirty="0"/>
              <a:t> with confidence scores and explanations.</a:t>
            </a:r>
          </a:p>
          <a:p>
            <a:r>
              <a:rPr lang="en-US" dirty="0"/>
              <a:t>Offer a </a:t>
            </a:r>
            <a:r>
              <a:rPr lang="en-US" b="1" dirty="0"/>
              <a:t>web-based interface</a:t>
            </a:r>
            <a:r>
              <a:rPr lang="en-US" dirty="0"/>
              <a:t> with persistent scan logging.</a:t>
            </a:r>
          </a:p>
          <a:p>
            <a:r>
              <a:rPr lang="en-US" dirty="0"/>
              <a:t>Deliver a </a:t>
            </a:r>
            <a:r>
              <a:rPr lang="en-US" b="1" dirty="0"/>
              <a:t>practical and efficient</a:t>
            </a:r>
            <a:r>
              <a:rPr lang="en-US" dirty="0"/>
              <a:t> phishing detection solution.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Motivation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Research Gaps Addressed</a:t>
            </a:r>
          </a:p>
          <a:p>
            <a:r>
              <a:rPr lang="en-US" dirty="0"/>
              <a:t>Limited use of </a:t>
            </a:r>
            <a:r>
              <a:rPr lang="en-US" b="1" dirty="0"/>
              <a:t>hybrid detection approaches</a:t>
            </a:r>
            <a:r>
              <a:rPr lang="en-US" dirty="0"/>
              <a:t> combining machine learning with rule-based analysis.</a:t>
            </a:r>
          </a:p>
          <a:p>
            <a:r>
              <a:rPr lang="en-US" dirty="0"/>
              <a:t>Lack of </a:t>
            </a:r>
            <a:r>
              <a:rPr lang="en-US" b="1" dirty="0"/>
              <a:t>explain ability</a:t>
            </a:r>
            <a:r>
              <a:rPr lang="en-US" dirty="0"/>
              <a:t> in many phishing detection systems, reducing trust and usability.</a:t>
            </a:r>
          </a:p>
          <a:p>
            <a:r>
              <a:rPr lang="en-US" dirty="0"/>
              <a:t>Poor </a:t>
            </a:r>
            <a:r>
              <a:rPr lang="en-US" b="1" dirty="0"/>
              <a:t>generalization to unseen, real-world emails</a:t>
            </a:r>
            <a:r>
              <a:rPr lang="en-US" dirty="0"/>
              <a:t> due to overfitting on benchmark datasets.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Scientific Support &amp; Relevant Studies</a:t>
            </a:r>
          </a:p>
          <a:p>
            <a:r>
              <a:rPr lang="en-US" sz="2000" dirty="0"/>
              <a:t>Research shows that </a:t>
            </a:r>
            <a:r>
              <a:rPr lang="en-US" sz="2000" b="1" dirty="0"/>
              <a:t>TF-IDF combined with classical ML algorithms</a:t>
            </a:r>
            <a:r>
              <a:rPr lang="en-US" sz="2000" dirty="0"/>
              <a:t> (SVM, Random Forest, Logistic Regression) performs effectively in phishing detection.</a:t>
            </a:r>
          </a:p>
          <a:p>
            <a:r>
              <a:rPr lang="en-US" sz="2000" dirty="0"/>
              <a:t>Studies confirm that </a:t>
            </a:r>
            <a:r>
              <a:rPr lang="en-US" sz="2000" b="1" dirty="0"/>
              <a:t>URL-based lexical features</a:t>
            </a:r>
            <a:r>
              <a:rPr lang="en-US" sz="2000" dirty="0"/>
              <a:t> significantly improve phishing detection accuracy.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Scientific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Literature reviews highlight that </a:t>
            </a:r>
            <a:r>
              <a:rPr lang="en-US" sz="2000" b="1" dirty="0"/>
              <a:t>hybrid systems</a:t>
            </a:r>
            <a:r>
              <a:rPr lang="en-US" sz="2000" dirty="0"/>
              <a:t> outperform single-technique models in handling evolving phishing strategies.</a:t>
            </a:r>
          </a:p>
          <a:p>
            <a:r>
              <a:rPr lang="en-US" sz="2000" dirty="0"/>
              <a:t>Existing research emphasizes the need for </a:t>
            </a:r>
            <a:r>
              <a:rPr lang="en-US" sz="2000" b="1" dirty="0"/>
              <a:t>lightweight, interpretable, and deployable</a:t>
            </a:r>
            <a:r>
              <a:rPr lang="en-US" sz="2000" dirty="0"/>
              <a:t> phishing detection systems for practical use.</a:t>
            </a:r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Market Perspective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Market Demand &amp; Trends</a:t>
            </a:r>
          </a:p>
          <a:p>
            <a:r>
              <a:rPr lang="en-US" dirty="0"/>
              <a:t>Rapid growth in phishing and social engineering attacks.</a:t>
            </a:r>
          </a:p>
          <a:p>
            <a:r>
              <a:rPr lang="en-US" dirty="0"/>
              <a:t>Increasing use of AI-generated phishing emails.</a:t>
            </a:r>
          </a:p>
          <a:p>
            <a:r>
              <a:rPr lang="en-US" dirty="0"/>
              <a:t>High demand for affordable and easy-to-deploy email security solutions.</a:t>
            </a:r>
          </a:p>
          <a:p>
            <a:r>
              <a:rPr lang="en-US" dirty="0"/>
              <a:t>Growing interest in explainable cybersecurity systems.</a:t>
            </a:r>
            <a:endParaRPr lang="ar-EG" dirty="0"/>
          </a:p>
          <a:p>
            <a:pPr marL="114300" indent="0">
              <a:buNone/>
            </a:pPr>
            <a:r>
              <a:rPr lang="en-US" b="1" dirty="0"/>
              <a:t>Impact &amp; Benefits</a:t>
            </a:r>
          </a:p>
          <a:p>
            <a:r>
              <a:rPr lang="en-US" dirty="0"/>
              <a:t>Reduces phishing-related risks and losses.</a:t>
            </a:r>
          </a:p>
          <a:p>
            <a:r>
              <a:rPr lang="en-US" dirty="0"/>
              <a:t>Improves user awareness and trust.</a:t>
            </a:r>
          </a:p>
          <a:p>
            <a:r>
              <a:rPr lang="en-US" dirty="0"/>
              <a:t>Provides real-time, transparent email protection.</a:t>
            </a:r>
          </a:p>
          <a:p>
            <a:r>
              <a:rPr lang="en-US" dirty="0"/>
              <a:t>Suitable for organizations, universities, and individuals.</a:t>
            </a:r>
          </a:p>
          <a:p>
            <a:endParaRPr lang="en-US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Market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8926" y="4437433"/>
            <a:ext cx="4980879" cy="393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200" dirty="0"/>
              <a:t>FBI IC3 Reports &amp; APWG Phishing Trends (2020–2024)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19" y="1083446"/>
            <a:ext cx="5129562" cy="34197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 Diagram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</a:t>
            </a:r>
            <a:endParaRPr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16</a:t>
            </a:fld>
            <a:endParaRPr lang="en-GB"/>
          </a:p>
        </p:txBody>
      </p:sp>
      <p:pic>
        <p:nvPicPr>
          <p:cNvPr id="5" name="Picture 3" descr="C:\Users\Lenovo\Downloads\system_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04" y="1055031"/>
            <a:ext cx="9156032" cy="40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 systems “comparative studies”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8454583"/>
              </p:ext>
            </p:extLst>
          </p:nvPr>
        </p:nvGraphicFramePr>
        <p:xfrm>
          <a:off x="202029" y="1077131"/>
          <a:ext cx="8630271" cy="4004375"/>
        </p:xfrm>
        <a:graphic>
          <a:graphicData uri="http://schemas.openxmlformats.org/drawingml/2006/table">
            <a:tbl>
              <a:tblPr/>
              <a:tblGrid>
                <a:gridCol w="179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70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System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/>
                        <a:t>Release / Major Update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/>
                        <a:t>Detection Accuracy*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/>
                        <a:t>Key Approach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Limitations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Barracuda Email Protection</a:t>
                      </a:r>
                    </a:p>
                    <a:p>
                      <a:pPr algn="ctr"/>
                      <a:r>
                        <a:rPr lang="en-US" altLang="zh-CN" sz="1200" dirty="0"/>
                        <a:t>[reference number]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Active AI upgrades (2023–2025)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~99.2%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ML + behavior analysis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Limited explainability, closed system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9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Microsoft Defender for Office 365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[reference number]</a:t>
                      </a:r>
                    </a:p>
                    <a:p>
                      <a:pPr algn="ctr"/>
                      <a:endParaRPr lang="en-US" altLang="zh-CN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Rebranded 2020, continuous updates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~89–98%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ML + reputation + policies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Weaker against advanced impersonation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52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Mimecast Email Security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[reference number]</a:t>
                      </a:r>
                    </a:p>
                    <a:p>
                      <a:pPr algn="ctr"/>
                      <a:endParaRPr lang="en-US" altLang="zh-CN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Cloud Integrated expansion (2023)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~99% (overall email security)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Multi-layer AI filtering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Expensive, complex tuning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Barracuda Sentinel / Barracuda Email Protection(2023)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GB" sz="1400" b="1"/>
              <a:t>Type:</a:t>
            </a:r>
            <a:r>
              <a:rPr lang="en-US" altLang="en-GB" sz="1400"/>
              <a:t> AI-powered email security platform used widely by enterprises(99.2%).</a:t>
            </a:r>
          </a:p>
          <a:p>
            <a:r>
              <a:rPr lang="en-US" altLang="en-GB" sz="1400" b="1"/>
              <a:t>Real-World Use:</a:t>
            </a:r>
            <a:r>
              <a:rPr lang="en-US" altLang="en-GB" sz="1400"/>
              <a:t> Trusted by many businesses for proactive protection and automated quarantining.</a:t>
            </a:r>
          </a:p>
          <a:p>
            <a:endParaRPr lang="en-US" altLang="en-GB" sz="1400"/>
          </a:p>
          <a:p>
            <a:r>
              <a:rPr lang="en-US" altLang="en-GB" sz="1400" b="1"/>
              <a:t>Strengths:</a:t>
            </a:r>
          </a:p>
          <a:p>
            <a:pPr lvl="1"/>
            <a:r>
              <a:rPr lang="en-US" altLang="en-GB" sz="1200"/>
              <a:t> AI pattern learning for internal and external threats</a:t>
            </a:r>
          </a:p>
          <a:p>
            <a:pPr lvl="1"/>
            <a:r>
              <a:rPr lang="en-US" altLang="en-GB" sz="1200"/>
              <a:t> Real-time automated remediation</a:t>
            </a:r>
          </a:p>
          <a:p>
            <a:pPr lvl="1"/>
            <a:r>
              <a:rPr lang="en-US" altLang="en-GB" sz="1200"/>
              <a:t> Protects against impersonation and account takeover</a:t>
            </a:r>
          </a:p>
          <a:p>
            <a:endParaRPr lang="en-US" altLang="en-GB" sz="1400"/>
          </a:p>
          <a:p>
            <a:r>
              <a:rPr lang="en-US" altLang="en-GB" sz="1400" b="1"/>
              <a:t>Limitations:</a:t>
            </a:r>
          </a:p>
          <a:p>
            <a:pPr lvl="1"/>
            <a:r>
              <a:rPr lang="en-US" altLang="en-GB" sz="1200"/>
              <a:t> Largely tailored for enterprise environments</a:t>
            </a:r>
          </a:p>
          <a:p>
            <a:pPr lvl="1"/>
            <a:r>
              <a:rPr lang="en-US" altLang="en-GB" sz="1200"/>
              <a:t> May require subscription and configuration</a:t>
            </a:r>
          </a:p>
          <a:p>
            <a:pPr lvl="1"/>
            <a:r>
              <a:rPr lang="en-US" altLang="en-GB" sz="1200"/>
              <a:t> Might not deeply explain why an email is flagged (visibility is mainly internal)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Microsoft Defender for Office 365 (2021)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GB" sz="1400" b="1"/>
              <a:t>Type: </a:t>
            </a:r>
            <a:r>
              <a:rPr lang="en-US" altLang="en-GB" sz="1400"/>
              <a:t>Built-in malware and phishing protection for Microsoft 365 customers(89 – 98 %).</a:t>
            </a:r>
          </a:p>
          <a:p>
            <a:r>
              <a:rPr lang="en-US" altLang="en-GB" sz="1400" b="1"/>
              <a:t>Real-World Use:</a:t>
            </a:r>
            <a:r>
              <a:rPr lang="en-US" altLang="en-GB" sz="1400"/>
              <a:t> Extensively used by organizations that rely on Microsoft 365, from SMBs to enterprises.</a:t>
            </a:r>
          </a:p>
          <a:p>
            <a:endParaRPr lang="en-US" altLang="en-GB" sz="1400"/>
          </a:p>
          <a:p>
            <a:r>
              <a:rPr lang="en-US" altLang="en-GB" sz="1400" b="1"/>
              <a:t>Strengths:</a:t>
            </a:r>
          </a:p>
          <a:p>
            <a:pPr lvl="1"/>
            <a:r>
              <a:rPr lang="en-US" altLang="en-GB" sz="1200"/>
              <a:t> Seamless with Microsoft products</a:t>
            </a:r>
          </a:p>
          <a:p>
            <a:pPr lvl="1"/>
            <a:r>
              <a:rPr lang="en-US" altLang="en-GB" sz="1200"/>
              <a:t> Automated link/attachment scanning</a:t>
            </a:r>
          </a:p>
          <a:p>
            <a:endParaRPr lang="en-US" altLang="en-GB" sz="1400"/>
          </a:p>
          <a:p>
            <a:r>
              <a:rPr lang="en-US" altLang="en-GB" sz="1400" b="1"/>
              <a:t>Limitations:</a:t>
            </a:r>
          </a:p>
          <a:p>
            <a:pPr lvl="1"/>
            <a:r>
              <a:rPr lang="en-US" altLang="en-GB" sz="1200"/>
              <a:t>Real users report gaps in advanced spoofing and display-name attacks.</a:t>
            </a:r>
          </a:p>
          <a:p>
            <a:pPr lvl="1"/>
            <a:r>
              <a:rPr lang="en-US" altLang="en-GB" sz="1200"/>
              <a:t>Often needs additional layers to fully protect against modern phishing.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Mimecast Email Security(2023)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GB" sz="1600" b="1"/>
              <a:t>Type:</a:t>
            </a:r>
            <a:r>
              <a:rPr lang="en-US" altLang="en-GB" sz="1600"/>
              <a:t> Cloud-based enterprise email security solution(~98%).</a:t>
            </a:r>
          </a:p>
          <a:p>
            <a:r>
              <a:rPr lang="en-US" altLang="en-GB" sz="1600" b="1"/>
              <a:t>Real-World Use:</a:t>
            </a:r>
            <a:r>
              <a:rPr lang="en-US" altLang="en-GB" sz="1600"/>
              <a:t> Commonly deployed in midsize to large businesses.</a:t>
            </a:r>
          </a:p>
          <a:p>
            <a:endParaRPr lang="en-US" altLang="en-GB" sz="1600"/>
          </a:p>
          <a:p>
            <a:r>
              <a:rPr lang="en-US" altLang="en-GB" sz="1600" b="1"/>
              <a:t>Strengths:</a:t>
            </a:r>
          </a:p>
          <a:p>
            <a:pPr lvl="1"/>
            <a:r>
              <a:rPr lang="en-US" altLang="en-GB" sz="1200"/>
              <a:t>Multi-layered detection (URLs, attachments, content)</a:t>
            </a:r>
          </a:p>
          <a:p>
            <a:pPr lvl="1"/>
            <a:r>
              <a:rPr lang="en-US" altLang="en-GB" sz="1200"/>
              <a:t>Integrated awareness training</a:t>
            </a:r>
          </a:p>
          <a:p>
            <a:pPr lvl="1"/>
            <a:r>
              <a:rPr lang="en-US" altLang="en-GB" sz="1200"/>
              <a:t>Strong dashboard and reporting</a:t>
            </a:r>
          </a:p>
          <a:p>
            <a:endParaRPr lang="en-US" altLang="en-GB" sz="1600" b="1"/>
          </a:p>
          <a:p>
            <a:r>
              <a:rPr lang="en-US" altLang="en-GB" sz="1600" b="1"/>
              <a:t>Limitations:</a:t>
            </a:r>
          </a:p>
          <a:p>
            <a:pPr lvl="1"/>
            <a:r>
              <a:rPr lang="en-US" altLang="en-GB" sz="1200"/>
              <a:t>Typically more expensive than basic email protection</a:t>
            </a:r>
          </a:p>
          <a:p>
            <a:pPr lvl="1"/>
            <a:r>
              <a:rPr lang="en-US" altLang="en-GB" sz="1200"/>
              <a:t>Requires some expertise to tune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Makes Our System Unique?</a:t>
            </a:r>
            <a:endParaRPr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Explainable: Provides clear reasons why an email is classified as phishing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Detects suspicious URLs and phishing links within emails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Trained and tested on public benchmark datasets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Can be adapted to different organizations</a:t>
            </a:r>
          </a:p>
          <a:p>
            <a:pPr marL="444500" indent="-285750">
              <a:spcBef>
                <a:spcPts val="1200"/>
              </a:spcBef>
              <a:buSzPts val="1100"/>
            </a:pPr>
            <a:endParaRPr lang="en-US" altLang="en-GB" sz="1500" dirty="0"/>
          </a:p>
          <a:p>
            <a:pPr marL="158750" indent="0">
              <a:spcBef>
                <a:spcPts val="1200"/>
              </a:spcBef>
              <a:buSzPts val="1100"/>
              <a:buNone/>
            </a:pPr>
            <a:r>
              <a:rPr lang="en-US" altLang="en-GB" sz="1500" b="1" dirty="0"/>
              <a:t>Key Takeaway:-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Our system prioritizes transparency, URL-based threat detection, and adaptability — addressing major limitations of current commercial phishing detection solutions.</a:t>
            </a:r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/>
              <a:t>Technical Approach</a:t>
            </a:r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AD0E-2B63-A06A-1500-4BD20C67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Rule-Based Detection Layer (Chain of Responsibility)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24EBD-A7E6-E64E-513E-2D4ADBC2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err="1"/>
              <a:t>HeaderHandler</a:t>
            </a:r>
            <a:endParaRPr lang="en-US" dirty="0"/>
          </a:p>
          <a:p>
            <a:r>
              <a:rPr lang="en-US" dirty="0"/>
              <a:t>Parses email headers</a:t>
            </a:r>
          </a:p>
          <a:p>
            <a:r>
              <a:rPr lang="en-US" dirty="0"/>
              <a:t>Validates sender format</a:t>
            </a:r>
          </a:p>
          <a:p>
            <a:r>
              <a:rPr lang="en-US" dirty="0"/>
              <a:t>Detects:</a:t>
            </a:r>
          </a:p>
          <a:p>
            <a:pPr lvl="1"/>
            <a:r>
              <a:rPr lang="en-US" dirty="0"/>
              <a:t>Missing or malformed sender</a:t>
            </a:r>
          </a:p>
          <a:p>
            <a:pPr lvl="1"/>
            <a:r>
              <a:rPr lang="en-US" dirty="0"/>
              <a:t>Suspicious domains &amp; TLDs</a:t>
            </a:r>
          </a:p>
          <a:p>
            <a:pPr lvl="1"/>
            <a:r>
              <a:rPr lang="en-US" dirty="0"/>
              <a:t>Brand impersonation (PayPal, Amazon, Google, etc.)</a:t>
            </a:r>
          </a:p>
          <a:p>
            <a:pPr lvl="1"/>
            <a:r>
              <a:rPr lang="en-US" dirty="0"/>
              <a:t>Obfuscated or nested domains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4D45E-597A-288E-6FDB-2E95265A50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13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8404-4DFC-ACEC-A560-26C7EE06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Rule-Based Detection Layer (Chain of Responsibility)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3B615-9B9B-3FFE-D9C4-731776CEC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 err="1"/>
              <a:t>URLHandler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Extracts URL-based features from email body</a:t>
            </a:r>
          </a:p>
          <a:p>
            <a:r>
              <a:rPr lang="en-US" dirty="0"/>
              <a:t>Detects:</a:t>
            </a:r>
          </a:p>
          <a:p>
            <a:pPr lvl="1"/>
            <a:r>
              <a:rPr lang="en-US" dirty="0"/>
              <a:t>Long URLs</a:t>
            </a:r>
          </a:p>
          <a:p>
            <a:pPr lvl="1"/>
            <a:r>
              <a:rPr lang="en-US" dirty="0"/>
              <a:t>IP-based links</a:t>
            </a:r>
          </a:p>
          <a:p>
            <a:pPr lvl="1"/>
            <a:r>
              <a:rPr lang="en-US" dirty="0"/>
              <a:t>URL shorteners</a:t>
            </a:r>
          </a:p>
          <a:p>
            <a:pPr lvl="1"/>
            <a:r>
              <a:rPr lang="en-US" dirty="0"/>
              <a:t>Suspicious TLDs</a:t>
            </a:r>
          </a:p>
          <a:p>
            <a:pPr lvl="1"/>
            <a:r>
              <a:rPr lang="en-US" dirty="0"/>
              <a:t>Excessive symbols &amp; uppercase</a:t>
            </a:r>
          </a:p>
          <a:p>
            <a:r>
              <a:rPr lang="en-US" dirty="0"/>
              <a:t>Computes a </a:t>
            </a:r>
            <a:r>
              <a:rPr lang="en-US" b="1" dirty="0"/>
              <a:t>risk score</a:t>
            </a:r>
            <a:endParaRPr lang="en-US" dirty="0"/>
          </a:p>
          <a:p>
            <a:r>
              <a:rPr lang="en-US" dirty="0"/>
              <a:t>Immediately flags high-risk phishing emails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These layer quickly blocks obvious phishing attempts without using ML, improving speed and reliability.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CF0BC-C2AE-5FC2-C78A-C2CA67FD9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49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A1C5-A9C4-1C6B-6B7B-0506293A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Ensemble Learning Model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24996-CFE9-C7CB-B035-31F20A17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Main idea: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Multiple specialized models analyze the same email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Each model focuses on different phishing signals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A meta-classifier combines their predictions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Results in higher accuracy and robustness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09A3-778F-DFC1-9D42-B259D04EBF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395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B9F2-2AEA-9828-CD52-EF10DDF0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3B0BA-19C8-2377-97DC-F717FEC42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F9115-76E8-1653-4DBE-7FEC1974E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7BA7A-55C9-2039-F959-21C4C86F9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84" y="0"/>
            <a:ext cx="9150584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56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394A-D666-6B66-E9A9-741A9732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FD734-9577-D29D-2B2D-612243C0E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view captures </a:t>
            </a:r>
            <a:r>
              <a:rPr lang="en-US" b="1" dirty="0"/>
              <a:t>a different phishing behavior</a:t>
            </a:r>
            <a:r>
              <a:rPr lang="en-US" dirty="0"/>
              <a:t>.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90BC1-50EE-55FF-1ADD-70A8E53FA2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54AA93-99BD-A1D1-B493-DB6B880D7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717755"/>
              </p:ext>
            </p:extLst>
          </p:nvPr>
        </p:nvGraphicFramePr>
        <p:xfrm>
          <a:off x="311700" y="1902785"/>
          <a:ext cx="8401119" cy="2412257"/>
        </p:xfrm>
        <a:graphic>
          <a:graphicData uri="http://schemas.openxmlformats.org/drawingml/2006/table">
            <a:tbl>
              <a:tblPr/>
              <a:tblGrid>
                <a:gridCol w="2800373">
                  <a:extLst>
                    <a:ext uri="{9D8B030D-6E8A-4147-A177-3AD203B41FA5}">
                      <a16:colId xmlns:a16="http://schemas.microsoft.com/office/drawing/2014/main" val="2315435395"/>
                    </a:ext>
                  </a:extLst>
                </a:gridCol>
                <a:gridCol w="2800373">
                  <a:extLst>
                    <a:ext uri="{9D8B030D-6E8A-4147-A177-3AD203B41FA5}">
                      <a16:colId xmlns:a16="http://schemas.microsoft.com/office/drawing/2014/main" val="4094427321"/>
                    </a:ext>
                  </a:extLst>
                </a:gridCol>
                <a:gridCol w="2800373">
                  <a:extLst>
                    <a:ext uri="{9D8B030D-6E8A-4147-A177-3AD203B41FA5}">
                      <a16:colId xmlns:a16="http://schemas.microsoft.com/office/drawing/2014/main" val="3619743328"/>
                    </a:ext>
                  </a:extLst>
                </a:gridCol>
              </a:tblGrid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Feature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What It Detects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27774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Word TF-IDF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Suspicious phrases &amp; wording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128136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Character TF-IDF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Linear 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Obfuscation &amp; misspellings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139941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Word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Naive Bayes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Frequent phishing terms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583120"/>
                  </a:ext>
                </a:extLst>
              </a:tr>
              <a:tr h="66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Text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Style patterns (ALL CAPS, links, numbers)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75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6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42B1-D9D6-5A54-44A5-1B40D6815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&amp; Validation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7CAA-E333-D4D2-8BF7-500696E72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Trained on </a:t>
            </a:r>
            <a:r>
              <a:rPr lang="en-US" altLang="en-US" b="1" dirty="0">
                <a:solidFill>
                  <a:schemeClr val="tx1"/>
                </a:solidFill>
                <a:latin typeface="Raleway" pitchFamily="2" charset="0"/>
              </a:rPr>
              <a:t>multiple datasets</a:t>
            </a:r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 for diversity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Tested on a </a:t>
            </a:r>
            <a:r>
              <a:rPr lang="en-US" altLang="en-US" b="1" dirty="0">
                <a:solidFill>
                  <a:schemeClr val="tx1"/>
                </a:solidFill>
                <a:latin typeface="Raleway" pitchFamily="2" charset="0"/>
              </a:rPr>
              <a:t>completely unseen dataset</a:t>
            </a:r>
          </a:p>
          <a:p>
            <a:endParaRPr lang="en-US" altLang="en-US" b="1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Uses cross-validation to avoid overfitting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Final model retrained on all data for deployment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dirty="0"/>
              <a:t>Achieved </a:t>
            </a:r>
            <a:r>
              <a:rPr lang="en-US" b="1" dirty="0"/>
              <a:t>98.55% accuracy</a:t>
            </a:r>
            <a:r>
              <a:rPr lang="en-US" dirty="0"/>
              <a:t> on unseen data</a:t>
            </a:r>
            <a:endParaRPr lang="en-US" dirty="0"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6595-98D8-3DAE-E41D-71E818E3D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157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B493A4A6-9BC7-93EF-48CF-97F8B03F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>
            <a:extLst>
              <a:ext uri="{FF2B5EF4-FFF2-40B4-BE49-F238E27FC236}">
                <a16:creationId xmlns:a16="http://schemas.microsoft.com/office/drawing/2014/main" id="{EFFA438C-45A0-7B46-02CA-F3F2E5324B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2362620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31</a:t>
            </a:fld>
            <a:endParaRPr lang="en-GB"/>
          </a:p>
        </p:txBody>
      </p:sp>
      <p:pic>
        <p:nvPicPr>
          <p:cNvPr id="2" name="Phishing Shield • Enterprise Threat Detection and 3 more pages - Personal - Microsoft​ Edge 2025-12-22 22-12-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4900" y="1262625"/>
            <a:ext cx="6718004" cy="323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E81A-539D-373F-5879-3BFAA1AC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F4F3A-F752-EA08-3EF1-804CB016B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[Reference number]</a:t>
            </a:r>
          </a:p>
          <a:p>
            <a:r>
              <a:rPr lang="en-US" dirty="0"/>
              <a:t>[Reference number]</a:t>
            </a:r>
          </a:p>
          <a:p>
            <a:r>
              <a:rPr lang="en-US" dirty="0"/>
              <a:t>[Reference number]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41436-A6D7-F508-8AF2-B83D7CF969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341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217"/>
  <p:tag name="TABLE_ENDDRAG_RECT" val="24*119*671*217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1218</Words>
  <Application>Microsoft Office PowerPoint</Application>
  <PresentationFormat>On-screen Show (16:9)</PresentationFormat>
  <Paragraphs>239</Paragraphs>
  <Slides>33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Raleway SemiBold</vt:lpstr>
      <vt:lpstr>Arial</vt:lpstr>
      <vt:lpstr>Nunito</vt:lpstr>
      <vt:lpstr>Raleway</vt:lpstr>
      <vt:lpstr>Raleway Light</vt:lpstr>
      <vt:lpstr>Simple Light</vt:lpstr>
      <vt:lpstr>Automated Phissing Email Detection and Reporting System</vt:lpstr>
      <vt:lpstr>Table of Contents</vt:lpstr>
      <vt:lpstr>Introduction</vt:lpstr>
      <vt:lpstr>Problem Statement</vt:lpstr>
      <vt:lpstr>Problem Statement (cont.)</vt:lpstr>
      <vt:lpstr>Objectives </vt:lpstr>
      <vt:lpstr>Project Idea</vt:lpstr>
      <vt:lpstr>Project Idea (cont.)</vt:lpstr>
      <vt:lpstr>Project Motivation</vt:lpstr>
      <vt:lpstr>Scientific Perspective</vt:lpstr>
      <vt:lpstr>Scientific Perspective</vt:lpstr>
      <vt:lpstr>Scientific Perspective</vt:lpstr>
      <vt:lpstr>Market Perspective</vt:lpstr>
      <vt:lpstr>Market Perspective</vt:lpstr>
      <vt:lpstr>System Overview Diagram</vt:lpstr>
      <vt:lpstr>System Overview</vt:lpstr>
      <vt:lpstr>Similar Systems</vt:lpstr>
      <vt:lpstr>Similar systems “comparative studies” </vt:lpstr>
      <vt:lpstr>Barracuda Sentinel / Barracuda Email Protection(2023)</vt:lpstr>
      <vt:lpstr>Microsoft Defender for Office 365 (2021)</vt:lpstr>
      <vt:lpstr>Mimecast Email Security(2023)</vt:lpstr>
      <vt:lpstr>What Makes Our System Unique?</vt:lpstr>
      <vt:lpstr>Technical Approach</vt:lpstr>
      <vt:lpstr>Rule-Based Detection Layer (Chain of Responsibility)</vt:lpstr>
      <vt:lpstr>Rule-Based Detection Layer (Chain of Responsibility)</vt:lpstr>
      <vt:lpstr>Ensemble Learning Model Architecture</vt:lpstr>
      <vt:lpstr>PowerPoint Presentation</vt:lpstr>
      <vt:lpstr>Feature Views</vt:lpstr>
      <vt:lpstr>Training &amp; Validation Strategy</vt:lpstr>
      <vt:lpstr>Prototype</vt:lpstr>
      <vt:lpstr>Prototype</vt:lpstr>
      <vt:lpstr>Reference 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hassan waleed</dc:creator>
  <cp:lastModifiedBy>Taghreed Salem Ibrahim Salem</cp:lastModifiedBy>
  <cp:revision>16</cp:revision>
  <dcterms:created xsi:type="dcterms:W3CDTF">2026-01-19T18:31:15Z</dcterms:created>
  <dcterms:modified xsi:type="dcterms:W3CDTF">2026-01-20T10:20:03Z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A39AE483465C43DDB6B422D63D9C759D_13</vt:lpwstr>
  </property>
  <property fmtid="{D5CDD505-2E9C-101B-9397-08002B2CF9AE}" pid="3" name="KSOProductBuildVer">
    <vt:lpwstr>2057-12.2.0.23197</vt:lpwstr>
  </property>
</Properties>
</file>