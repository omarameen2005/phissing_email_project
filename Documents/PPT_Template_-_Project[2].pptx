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73" r:id="rId15"/>
    <p:sldId id="274" r:id="rId16"/>
    <p:sldId id="268" r:id="rId17"/>
    <p:sldId id="269" r:id="rId18"/>
    <p:sldId id="270" r:id="rId19"/>
    <p:sldId id="271" r:id="rId20"/>
  </p:sldIdLst>
  <p:sldSz cx="9144000" cy="5143500" type="screen16x9"/>
  <p:notesSz cx="6858000" cy="9144000"/>
  <p:embeddedFontLst>
    <p:embeddedFont>
      <p:font typeface="Nunito" pitchFamily="2" charset="0"/>
      <p:regular r:id="rId22"/>
      <p:bold r:id="rId23"/>
      <p:italic r:id="rId24"/>
      <p:boldItalic r:id="rId25"/>
    </p:embeddedFont>
    <p:embeddedFont>
      <p:font typeface="Raleway" pitchFamily="2" charset="0"/>
      <p:regular r:id="rId26"/>
      <p:bold r:id="rId27"/>
      <p:italic r:id="rId28"/>
      <p:boldItalic r:id="rId29"/>
    </p:embeddedFont>
    <p:embeddedFont>
      <p:font typeface="Raleway Light" pitchFamily="2" charset="0"/>
      <p:regular r:id="rId30"/>
      <p:bold r:id="rId31"/>
      <p:italic r:id="rId32"/>
      <p:boldItalic r:id="rId33"/>
    </p:embeddedFont>
    <p:embeddedFont>
      <p:font typeface="Raleway SemiBold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837239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50684f8d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50684f8d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b61ea6080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b61ea6080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50684f8d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50684f8d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50684f8d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50684f8d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50684f8d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50684f8d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50684f8d5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50684f8d5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50684f8d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50684f8d5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50684f8d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50684f8d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50684f8d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50684f8d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50684f8d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50684f8d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50684f8d5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50684f8d5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50684f8d5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50684f8d5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50684f8d5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50684f8d5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50684f8d5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50684f8d5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50684f8d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50684f8d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50684f8d5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50684f8d5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50684f8d5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50684f8d5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0" y="1337340"/>
            <a:ext cx="9144000" cy="2651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52400" y="1836825"/>
            <a:ext cx="4775400" cy="10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aleway SemiBold"/>
              <a:buNone/>
              <a:defRPr sz="3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None/>
              <a:defRPr sz="14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52400" y="4115125"/>
            <a:ext cx="88128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Members: 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 b="0">
                <a:latin typeface="Raleway Light"/>
                <a:ea typeface="Raleway Light"/>
                <a:cs typeface="Raleway Light"/>
                <a:sym typeface="Raleway Light"/>
              </a:rPr>
              <a:t>Team Member#1 - Team Member#2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 b="0">
                <a:latin typeface="Raleway Light"/>
                <a:ea typeface="Raleway Light"/>
                <a:cs typeface="Raleway Light"/>
                <a:sym typeface="Raleway Light"/>
              </a:rPr>
              <a:t>Team Member#3 - Team Member#4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 b="0">
                <a:latin typeface="Raleway Light"/>
                <a:ea typeface="Raleway Light"/>
                <a:cs typeface="Raleway Light"/>
                <a:sym typeface="Raleway Light"/>
              </a:rPr>
              <a:t>Team Member#5 - Team Member#6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r="2676"/>
          <a:stretch/>
        </p:blipFill>
        <p:spPr>
          <a:xfrm>
            <a:off x="6568250" y="1836825"/>
            <a:ext cx="2092075" cy="1652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  <a:solidFill>
            <a:srgbClr val="F2735E"/>
          </a:solidFill>
          <a:effectLst>
            <a:outerShdw blurRad="71438" dist="19050" dir="5400000" algn="bl" rotWithShape="0">
              <a:srgbClr val="000000">
                <a:alpha val="51000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/>
        </p:nvSpPr>
        <p:spPr>
          <a:xfrm>
            <a:off x="311700" y="445025"/>
            <a:ext cx="6327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" name="Google Shape;22;p4"/>
          <p:cNvPicPr preferRelativeResize="0"/>
          <p:nvPr userDrawn="1"/>
        </p:nvPicPr>
        <p:blipFill rotWithShape="1">
          <a:blip r:embed="rId2">
            <a:alphaModFix/>
          </a:blip>
          <a:srcRect l="25636" t="25500" r="19712" b="25030"/>
          <a:stretch/>
        </p:blipFill>
        <p:spPr>
          <a:xfrm>
            <a:off x="327200" y="459053"/>
            <a:ext cx="601700" cy="544635"/>
          </a:xfrm>
          <a:prstGeom prst="rect">
            <a:avLst/>
          </a:prstGeom>
          <a:noFill/>
          <a:ln w="9525" cap="flat" cmpd="sng">
            <a:solidFill>
              <a:srgbClr val="F2735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 dirty="0"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" name="Google Shape;4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wo columns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aleway SemiBold"/>
              <a:buNone/>
              <a:defRPr sz="2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ctrTitle"/>
          </p:nvPr>
        </p:nvSpPr>
        <p:spPr>
          <a:xfrm>
            <a:off x="152399" y="1836825"/>
            <a:ext cx="6278137" cy="10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Automated Phissing Email Detection and Reporting System</a:t>
            </a:r>
            <a:endParaRPr sz="3000" dirty="0"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35" dirty="0"/>
              <a:t>Supervised by:</a:t>
            </a:r>
          </a:p>
          <a:p>
            <a:pPr marL="0" lvl="0" indent="0">
              <a:lnSpc>
                <a:spcPct val="105000"/>
              </a:lnSpc>
              <a:buClr>
                <a:schemeClr val="dk1"/>
              </a:buClr>
              <a:buSzPts val="1100"/>
            </a:pPr>
            <a:r>
              <a:rPr lang="en-US" sz="1435" dirty="0" err="1"/>
              <a:t>Taghreed</a:t>
            </a:r>
            <a:r>
              <a:rPr lang="en-US" sz="1435" dirty="0"/>
              <a:t> Salem</a:t>
            </a:r>
            <a:endParaRPr sz="1435" dirty="0"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42008" y="3886526"/>
            <a:ext cx="8812800" cy="9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Members: </a:t>
            </a:r>
            <a:endParaRPr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" sz="1000" b="0" dirty="0">
                <a:latin typeface="Raleway Light"/>
                <a:ea typeface="Raleway Light"/>
                <a:cs typeface="Raleway Light"/>
                <a:sym typeface="Raleway Light"/>
              </a:rPr>
              <a:t>Aml Mahmoud 240101414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" sz="1000" b="0" dirty="0">
                <a:latin typeface="Raleway Light"/>
                <a:ea typeface="Raleway Light"/>
                <a:cs typeface="Raleway Light"/>
                <a:sym typeface="Raleway Light"/>
              </a:rPr>
              <a:t>Mazen Ahmed </a:t>
            </a:r>
            <a:r>
              <a:rPr lang="en-US" sz="1000" b="0" dirty="0">
                <a:latin typeface="Raleway Light"/>
                <a:ea typeface="Raleway Light"/>
                <a:cs typeface="Raleway Light"/>
                <a:sym typeface="Raleway Light"/>
              </a:rPr>
              <a:t>240101129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" sz="1000" b="0" dirty="0">
                <a:latin typeface="Raleway Light"/>
                <a:ea typeface="Raleway Light"/>
                <a:cs typeface="Raleway Light"/>
                <a:sym typeface="Raleway Light"/>
              </a:rPr>
              <a:t>Omar Ameen 240102951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" sz="1000" b="0" dirty="0">
                <a:latin typeface="Raleway Light"/>
                <a:ea typeface="Raleway Light"/>
                <a:cs typeface="Raleway Light"/>
                <a:sym typeface="Raleway Light"/>
              </a:rPr>
              <a:t>El Hassan Waleed 240101584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" sz="1000" b="0" dirty="0">
                <a:latin typeface="Raleway Light"/>
                <a:ea typeface="Raleway Light"/>
                <a:cs typeface="Raleway Light"/>
                <a:sym typeface="Raleway Light"/>
              </a:rPr>
              <a:t>Ahmed Osama 230105887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" dirty="0"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" dirty="0">
                <a:latin typeface="Raleway"/>
                <a:ea typeface="Raleway"/>
                <a:cs typeface="Raleway"/>
                <a:sym typeface="Raleway"/>
              </a:rPr>
              <a:t>Motivation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" dirty="0">
                <a:latin typeface="Raleway"/>
                <a:ea typeface="Raleway"/>
                <a:cs typeface="Raleway"/>
                <a:sym typeface="Raleway"/>
              </a:rPr>
              <a:t>System Overview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" dirty="0">
                <a:latin typeface="Raleway"/>
                <a:ea typeface="Raleway"/>
                <a:cs typeface="Raleway"/>
                <a:sym typeface="Raleway"/>
              </a:rPr>
              <a:t>Similar Systems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" dirty="0">
                <a:latin typeface="Raleway"/>
                <a:ea typeface="Raleway"/>
                <a:cs typeface="Raleway"/>
                <a:sym typeface="Raleway"/>
              </a:rPr>
              <a:t>What Makes Our System Unique?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Phishing attacks are one of the </a:t>
            </a:r>
            <a:r>
              <a:rPr lang="en-US" b="1" dirty="0"/>
              <a:t>fastest-growing cyber threats worldwide</a:t>
            </a:r>
            <a:endParaRPr lang="ar-EG" b="1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Businesses lose </a:t>
            </a:r>
            <a:r>
              <a:rPr lang="en-US" b="1" dirty="0"/>
              <a:t>millions annually</a:t>
            </a:r>
            <a:r>
              <a:rPr lang="en-US" dirty="0"/>
              <a:t> due to phishing-related breaches</a:t>
            </a:r>
            <a:endParaRPr lang="ar-EG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Many organizations lack affordable and flexible email security solutions</a:t>
            </a:r>
            <a:endParaRPr lang="ar-EG" dirty="0"/>
          </a:p>
          <a:p>
            <a:endParaRPr lang="en-US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4</a:t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Idea</a:t>
            </a:r>
            <a:endParaRPr dirty="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r>
              <a:rPr lang="en-US" dirty="0"/>
              <a:t>Develop a </a:t>
            </a:r>
            <a:r>
              <a:rPr lang="en-US" b="1" dirty="0"/>
              <a:t>Phishing Email Detection System</a:t>
            </a:r>
            <a:r>
              <a:rPr lang="en-US" dirty="0"/>
              <a:t> to identify phishing emails automatically.</a:t>
            </a:r>
          </a:p>
          <a:p>
            <a:r>
              <a:rPr lang="en-US" dirty="0"/>
              <a:t>Classify emails as </a:t>
            </a:r>
            <a:r>
              <a:rPr lang="en-US" b="1" dirty="0"/>
              <a:t>Legitimate or Phishing</a:t>
            </a:r>
            <a:r>
              <a:rPr lang="en-US" dirty="0"/>
              <a:t> using content and metadata analysis.</a:t>
            </a:r>
          </a:p>
          <a:p>
            <a:r>
              <a:rPr lang="en-US" dirty="0"/>
              <a:t>Use a </a:t>
            </a:r>
            <a:r>
              <a:rPr lang="en-US" b="1" dirty="0"/>
              <a:t>hybrid approach</a:t>
            </a:r>
            <a:r>
              <a:rPr lang="en-US" dirty="0"/>
              <a:t> combining:</a:t>
            </a:r>
          </a:p>
          <a:p>
            <a:pPr lvl="1"/>
            <a:r>
              <a:rPr lang="en-US" dirty="0"/>
              <a:t>Machine Learning</a:t>
            </a:r>
          </a:p>
          <a:p>
            <a:pPr lvl="1"/>
            <a:r>
              <a:rPr lang="en-US" dirty="0"/>
              <a:t>NLP techniques</a:t>
            </a:r>
          </a:p>
          <a:p>
            <a:pPr lvl="1"/>
            <a:r>
              <a:rPr lang="en-US" dirty="0"/>
              <a:t>Rule-based URL and header checks</a:t>
            </a:r>
          </a:p>
          <a:p>
            <a:r>
              <a:rPr lang="en-US" dirty="0"/>
              <a:t>Apply </a:t>
            </a:r>
            <a:r>
              <a:rPr lang="en-US" b="1" dirty="0"/>
              <a:t>TF-IDF</a:t>
            </a:r>
            <a:r>
              <a:rPr lang="en-US" dirty="0"/>
              <a:t> for feature extraction from email text.</a:t>
            </a:r>
          </a:p>
          <a:p>
            <a:r>
              <a:rPr lang="en-US" dirty="0"/>
              <a:t>Use </a:t>
            </a:r>
            <a:r>
              <a:rPr lang="en-US" b="1" dirty="0"/>
              <a:t>classical ML algorithms</a:t>
            </a:r>
            <a:r>
              <a:rPr lang="en-US" dirty="0"/>
              <a:t> (Logistic Regression, Naive Bayes, SVM, Random Forest).</a:t>
            </a:r>
          </a:p>
          <a:p>
            <a:r>
              <a:rPr lang="en-US" dirty="0"/>
              <a:t>Implement a </a:t>
            </a:r>
            <a:r>
              <a:rPr lang="en-US" b="1" dirty="0"/>
              <a:t>multi-stage detection engine</a:t>
            </a:r>
            <a:r>
              <a:rPr lang="en-US" dirty="0"/>
              <a:t> to improve accuracy and robustness.</a:t>
            </a:r>
          </a:p>
          <a:p>
            <a:r>
              <a:rPr lang="en-US" dirty="0"/>
              <a:t>Provide </a:t>
            </a:r>
            <a:r>
              <a:rPr lang="en-US" b="1" dirty="0"/>
              <a:t>real-time results</a:t>
            </a:r>
            <a:r>
              <a:rPr lang="en-US" dirty="0"/>
              <a:t> with confidence scores and explanations.</a:t>
            </a:r>
          </a:p>
          <a:p>
            <a:r>
              <a:rPr lang="en-US" dirty="0"/>
              <a:t>Offer a </a:t>
            </a:r>
            <a:r>
              <a:rPr lang="en-US" b="1" dirty="0"/>
              <a:t>web-based interface</a:t>
            </a:r>
            <a:r>
              <a:rPr lang="en-US" dirty="0"/>
              <a:t> with persistent scan logging.</a:t>
            </a:r>
          </a:p>
          <a:p>
            <a:r>
              <a:rPr lang="en-US" dirty="0"/>
              <a:t>Deliver a </a:t>
            </a:r>
            <a:r>
              <a:rPr lang="en-US" b="1" dirty="0"/>
              <a:t>lightweight, explainable, and practical</a:t>
            </a:r>
            <a:r>
              <a:rPr lang="en-US" dirty="0"/>
              <a:t> phishing detection solution.</a:t>
            </a:r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5</a:t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Motivation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Scientific Perspective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Research Gaps Addressed</a:t>
            </a:r>
          </a:p>
          <a:p>
            <a:r>
              <a:rPr lang="en-US" dirty="0"/>
              <a:t>Limited use of </a:t>
            </a:r>
            <a:r>
              <a:rPr lang="en-US" b="1" dirty="0"/>
              <a:t>hybrid detection approaches</a:t>
            </a:r>
            <a:r>
              <a:rPr lang="en-US" dirty="0"/>
              <a:t> combining machine learning with rule-based analysis.</a:t>
            </a:r>
          </a:p>
          <a:p>
            <a:r>
              <a:rPr lang="en-US" dirty="0"/>
              <a:t>Lack of </a:t>
            </a:r>
            <a:r>
              <a:rPr lang="en-US" b="1" dirty="0"/>
              <a:t>explain ability</a:t>
            </a:r>
            <a:r>
              <a:rPr lang="en-US" dirty="0"/>
              <a:t> in many phishing detection systems, reducing trust and usability.</a:t>
            </a:r>
          </a:p>
          <a:p>
            <a:r>
              <a:rPr lang="en-US" dirty="0"/>
              <a:t>Poor </a:t>
            </a:r>
            <a:r>
              <a:rPr lang="en-US" b="1" dirty="0"/>
              <a:t>generalization to unseen, real-world emails</a:t>
            </a:r>
            <a:r>
              <a:rPr lang="en-US" dirty="0"/>
              <a:t> due to overfitting on benchmark datasets.</a:t>
            </a:r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Scientific Perspective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Scientific Support &amp; Relevant Studies</a:t>
            </a:r>
          </a:p>
          <a:p>
            <a:r>
              <a:rPr lang="en-US" dirty="0"/>
              <a:t>Research shows that </a:t>
            </a:r>
            <a:r>
              <a:rPr lang="en-US" b="1" dirty="0"/>
              <a:t>TF-IDF combined with classical ML algorithms</a:t>
            </a:r>
            <a:r>
              <a:rPr lang="en-US" dirty="0"/>
              <a:t> (SVM, Random Forest, Logistic Regression) performs effectively in phishing detection.</a:t>
            </a:r>
          </a:p>
          <a:p>
            <a:r>
              <a:rPr lang="en-US" dirty="0"/>
              <a:t>Studies confirm that </a:t>
            </a:r>
            <a:r>
              <a:rPr lang="en-US" b="1" dirty="0"/>
              <a:t>URL-based lexical features</a:t>
            </a:r>
            <a:r>
              <a:rPr lang="en-US" dirty="0"/>
              <a:t> significantly improve phishing detection accuracy.</a:t>
            </a:r>
          </a:p>
          <a:p>
            <a:r>
              <a:rPr lang="en-US" dirty="0"/>
              <a:t>Literature reviews highlight that </a:t>
            </a:r>
            <a:r>
              <a:rPr lang="en-US" b="1" dirty="0"/>
              <a:t>hybrid systems</a:t>
            </a:r>
            <a:r>
              <a:rPr lang="en-US" dirty="0"/>
              <a:t> outperform single-technique models in handling evolving phishing strategies.</a:t>
            </a:r>
          </a:p>
          <a:p>
            <a:r>
              <a:rPr lang="en-US" dirty="0"/>
              <a:t>Existing research emphasizes the need for </a:t>
            </a:r>
            <a:r>
              <a:rPr lang="en-US" b="1" dirty="0"/>
              <a:t>lightweight, interpretable, and deployable</a:t>
            </a:r>
            <a:r>
              <a:rPr lang="en-US" dirty="0"/>
              <a:t> phishing detection systems for practical use.</a:t>
            </a:r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9971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Market Perspective</a:t>
            </a:r>
            <a:endParaRPr dirty="0"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Market Demand &amp; Trends</a:t>
            </a:r>
          </a:p>
          <a:p>
            <a:r>
              <a:rPr lang="en-US" dirty="0"/>
              <a:t>Rapid growth in phishing and social engineering attacks.</a:t>
            </a:r>
          </a:p>
          <a:p>
            <a:r>
              <a:rPr lang="en-US" dirty="0"/>
              <a:t>Increasing use of AI-generated phishing emails.</a:t>
            </a:r>
          </a:p>
          <a:p>
            <a:r>
              <a:rPr lang="en-US" dirty="0"/>
              <a:t>High demand for affordable and easy-to-deploy email security solutions.</a:t>
            </a:r>
          </a:p>
          <a:p>
            <a:r>
              <a:rPr lang="en-US" dirty="0"/>
              <a:t>Growing interest in explainable cybersecurity systems.</a:t>
            </a:r>
            <a:endParaRPr lang="ar-EG" dirty="0"/>
          </a:p>
          <a:p>
            <a:pPr marL="114300" indent="0">
              <a:buNone/>
            </a:pPr>
            <a:r>
              <a:rPr lang="en-US" b="1" dirty="0"/>
              <a:t>Impact &amp; Benefits</a:t>
            </a:r>
          </a:p>
          <a:p>
            <a:r>
              <a:rPr lang="en-US" dirty="0"/>
              <a:t>Reduces phishing-related risks and losses.</a:t>
            </a:r>
          </a:p>
          <a:p>
            <a:r>
              <a:rPr lang="en-US" dirty="0"/>
              <a:t>Improves user awareness and trust.</a:t>
            </a:r>
          </a:p>
          <a:p>
            <a:r>
              <a:rPr lang="en-US" dirty="0"/>
              <a:t>Provides real-time, transparent email protection.</a:t>
            </a:r>
          </a:p>
          <a:p>
            <a:r>
              <a:rPr lang="en-US" dirty="0"/>
              <a:t>Suitable for organizations, universities, and individuals.</a:t>
            </a:r>
          </a:p>
          <a:p>
            <a:endParaRPr lang="en-US"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Overview Diagram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Overview</a:t>
            </a:r>
            <a:endParaRPr dirty="0"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User Input Layer</a:t>
            </a:r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Flask Web Application (routes.py)</a:t>
            </a:r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Detection Engine (processor.py)</a:t>
            </a:r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Four Parallel Detection Handlers</a:t>
            </a:r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Result Generation</a:t>
            </a:r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SQLite Logger (logger.py)</a:t>
            </a:r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Dashboard &amp; </a:t>
            </a:r>
            <a:r>
              <a:rPr lang="en-US" dirty="0" err="1"/>
              <a:t>Visualizationa</a:t>
            </a:r>
            <a:endParaRPr lang="en-US" dirty="0"/>
          </a:p>
        </p:txBody>
      </p:sp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5" name="Picture 3" descr="C:\Users\Lenovo\Downloads\system_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682" y="1059873"/>
            <a:ext cx="4129255" cy="385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Similar Systems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Similar System (1) (2) (3)</a:t>
            </a:r>
            <a:endParaRPr dirty="0"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System #1: </a:t>
            </a:r>
            <a:r>
              <a:rPr lang="en-US" sz="2000" b="1" dirty="0" err="1"/>
              <a:t>PhishHaven</a:t>
            </a:r>
            <a:r>
              <a:rPr lang="en-US" sz="2000" b="1" dirty="0"/>
              <a:t> (2020)</a:t>
            </a:r>
          </a:p>
          <a:p>
            <a:pPr marL="114300" indent="0">
              <a:buNone/>
            </a:pPr>
            <a:r>
              <a:rPr lang="en-US" sz="1700" b="1" dirty="0"/>
              <a:t>What it does:</a:t>
            </a:r>
            <a:endParaRPr lang="en-US" sz="1700" dirty="0"/>
          </a:p>
          <a:p>
            <a:pPr marL="114300" indent="0">
              <a:buNone/>
            </a:pPr>
            <a:r>
              <a:rPr lang="en-US" sz="1400" dirty="0"/>
              <a:t>Detects AI-generated phishing URLs using ensemble ML</a:t>
            </a:r>
          </a:p>
          <a:p>
            <a:pPr marL="114300" indent="0">
              <a:buNone/>
            </a:pPr>
            <a:r>
              <a:rPr lang="en-US" sz="1400" b="1" dirty="0"/>
              <a:t>Features: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10 parallel ML models (SVM, Random Forest, etc.)</a:t>
            </a:r>
          </a:p>
          <a:p>
            <a:pPr marL="114300" indent="0">
              <a:buNone/>
            </a:pPr>
            <a:r>
              <a:rPr lang="en-US" sz="1400" dirty="0"/>
              <a:t>Very high accuracy on phishing URLs</a:t>
            </a:r>
          </a:p>
          <a:p>
            <a:pPr marL="114300" indent="0">
              <a:buNone/>
            </a:pPr>
            <a:r>
              <a:rPr lang="en-US" sz="1400" dirty="0"/>
              <a:t>Analyzes URL structure and patterns</a:t>
            </a:r>
          </a:p>
          <a:p>
            <a:pPr marL="114300" indent="0">
              <a:buNone/>
            </a:pPr>
            <a:r>
              <a:rPr lang="en-US" sz="1400" b="1" dirty="0"/>
              <a:t>Limitations: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URL-only (ignores email content)</a:t>
            </a:r>
          </a:p>
          <a:p>
            <a:pPr marL="114300" indent="0">
              <a:buNone/>
            </a:pPr>
            <a:r>
              <a:rPr lang="en-US" sz="1400" dirty="0"/>
              <a:t>No header analysis</a:t>
            </a:r>
          </a:p>
          <a:p>
            <a:pPr marL="114300" indent="0">
              <a:buNone/>
            </a:pPr>
            <a:r>
              <a:rPr lang="en-US" sz="1400" dirty="0"/>
              <a:t>Misses text-based phishing</a:t>
            </a:r>
          </a:p>
          <a:p>
            <a:pPr marL="114300" indent="0">
              <a:buNone/>
            </a:pPr>
            <a:endParaRPr lang="en-US" sz="1200" dirty="0"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Similar System (1) (2) (3)</a:t>
            </a:r>
            <a:endParaRPr dirty="0"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US" sz="2000" b="1" dirty="0"/>
              <a:t>System #2: BERT + LSTM Model (2023)</a:t>
            </a:r>
          </a:p>
          <a:p>
            <a:pPr marL="114300" indent="0">
              <a:buNone/>
            </a:pPr>
            <a:r>
              <a:rPr lang="en-US" sz="1600" b="1" dirty="0"/>
              <a:t>What it does:</a:t>
            </a:r>
            <a:endParaRPr lang="en-US" sz="1600" dirty="0"/>
          </a:p>
          <a:p>
            <a:pPr marL="114300" indent="0">
              <a:buNone/>
            </a:pPr>
            <a:r>
              <a:rPr lang="en-US" sz="2000" dirty="0"/>
              <a:t> Deep learning with transformer architecture</a:t>
            </a:r>
          </a:p>
          <a:p>
            <a:pPr marL="114300" indent="0">
              <a:buNone/>
            </a:pPr>
            <a:r>
              <a:rPr lang="en-US" sz="1600" b="1" dirty="0"/>
              <a:t>Features:</a:t>
            </a:r>
            <a:endParaRPr lang="en-US" sz="1600" dirty="0"/>
          </a:p>
          <a:p>
            <a:pPr marL="114300" indent="0">
              <a:buNone/>
            </a:pPr>
            <a:r>
              <a:rPr lang="en-US" sz="2000" dirty="0"/>
              <a:t>Near-perfect accuracy (highest in field)</a:t>
            </a:r>
          </a:p>
          <a:p>
            <a:pPr marL="114300" indent="0">
              <a:buNone/>
            </a:pPr>
            <a:r>
              <a:rPr lang="en-US" sz="2000" dirty="0"/>
              <a:t>Advanced NLP for text understanding</a:t>
            </a:r>
          </a:p>
          <a:p>
            <a:pPr marL="114300" indent="0">
              <a:buNone/>
            </a:pPr>
            <a:r>
              <a:rPr lang="en-US" sz="2000" dirty="0"/>
              <a:t>State-of-the-art technology</a:t>
            </a:r>
          </a:p>
          <a:p>
            <a:pPr marL="114300" indent="0">
              <a:buNone/>
            </a:pPr>
            <a:r>
              <a:rPr lang="en-US" sz="1600" b="1" dirty="0"/>
              <a:t>Limitations:</a:t>
            </a:r>
            <a:endParaRPr lang="en-US" sz="1600" dirty="0"/>
          </a:p>
          <a:p>
            <a:pPr marL="114300" indent="0">
              <a:buNone/>
            </a:pPr>
            <a:r>
              <a:rPr lang="en-US" sz="2000" dirty="0"/>
              <a:t> Requires expensive GPU</a:t>
            </a:r>
          </a:p>
          <a:p>
            <a:pPr marL="114300" indent="0">
              <a:buNone/>
            </a:pPr>
            <a:r>
              <a:rPr lang="en-US" sz="2000" dirty="0"/>
              <a:t> Black box (no explanations)</a:t>
            </a:r>
          </a:p>
          <a:p>
            <a:pPr marL="114300" indent="0">
              <a:buNone/>
            </a:pPr>
            <a:r>
              <a:rPr lang="en-US" sz="2000" dirty="0"/>
              <a:t> Slow (5-10 seconds per email)</a:t>
            </a:r>
          </a:p>
          <a:p>
            <a:pPr marL="114300" indent="0">
              <a:buNone/>
            </a:pPr>
            <a:r>
              <a:rPr lang="en-US" sz="2000" dirty="0"/>
              <a:t> Hard to maintain</a:t>
            </a:r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7510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Similar System (1) (2) (3)</a:t>
            </a:r>
            <a:endParaRPr dirty="0"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 dirty="0"/>
              <a:t>System #3: </a:t>
            </a:r>
            <a:r>
              <a:rPr lang="en-US" b="1" dirty="0" err="1"/>
              <a:t>PhishNet</a:t>
            </a:r>
            <a:r>
              <a:rPr lang="en-US" b="1" dirty="0"/>
              <a:t>-NLP (2024)</a:t>
            </a:r>
          </a:p>
          <a:p>
            <a:pPr marL="114300" indent="0">
              <a:buNone/>
            </a:pPr>
            <a:r>
              <a:rPr lang="en-US" sz="1500" b="1" dirty="0"/>
              <a:t>What it does:</a:t>
            </a:r>
            <a:endParaRPr lang="en-US" sz="1500" dirty="0"/>
          </a:p>
          <a:p>
            <a:pPr marL="114300" indent="0">
              <a:buNone/>
            </a:pPr>
            <a:r>
              <a:rPr lang="en-US" dirty="0"/>
              <a:t>NLP-based with semantic analysis</a:t>
            </a:r>
          </a:p>
          <a:p>
            <a:pPr marL="114300" indent="0">
              <a:buNone/>
            </a:pPr>
            <a:r>
              <a:rPr lang="en-US" sz="1500" b="1" dirty="0"/>
              <a:t>Features:</a:t>
            </a:r>
            <a:endParaRPr lang="en-US" sz="1500" dirty="0"/>
          </a:p>
          <a:p>
            <a:pPr marL="114300" indent="0">
              <a:buNone/>
            </a:pPr>
            <a:r>
              <a:rPr lang="en-US" dirty="0"/>
              <a:t>Excellent detection rate with minimal false alarms</a:t>
            </a:r>
          </a:p>
          <a:p>
            <a:pPr marL="114300" indent="0">
              <a:buNone/>
            </a:pPr>
            <a:r>
              <a:rPr lang="en-US" dirty="0"/>
              <a:t>WordNet semantic processing</a:t>
            </a:r>
          </a:p>
          <a:p>
            <a:pPr marL="114300" indent="0">
              <a:buNone/>
            </a:pPr>
            <a:r>
              <a:rPr lang="en-US" dirty="0"/>
              <a:t>Multi-layer analysis</a:t>
            </a:r>
          </a:p>
          <a:p>
            <a:pPr marL="114300" indent="0">
              <a:buNone/>
            </a:pPr>
            <a:r>
              <a:rPr lang="en-US" sz="1500" b="1" dirty="0"/>
              <a:t>Limitations:</a:t>
            </a:r>
            <a:endParaRPr lang="en-US" sz="1500" dirty="0"/>
          </a:p>
          <a:p>
            <a:pPr marL="114300" indent="0">
              <a:buNone/>
            </a:pPr>
            <a:r>
              <a:rPr lang="en-US" dirty="0"/>
              <a:t> English-only</a:t>
            </a:r>
          </a:p>
          <a:p>
            <a:pPr marL="114300" indent="0">
              <a:buNone/>
            </a:pPr>
            <a:r>
              <a:rPr lang="en-US" dirty="0"/>
              <a:t> Fails on short emails</a:t>
            </a:r>
          </a:p>
          <a:p>
            <a:pPr marL="114300" indent="0">
              <a:buNone/>
            </a:pPr>
            <a:r>
              <a:rPr lang="en-US" dirty="0"/>
              <a:t> No attachment scanning</a:t>
            </a:r>
          </a:p>
          <a:p>
            <a:pPr marL="114300" indent="0">
              <a:buNone/>
            </a:pPr>
            <a:r>
              <a:rPr lang="en-US" dirty="0"/>
              <a:t> Complex setup</a:t>
            </a:r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6039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Makes Our System Unique?</a:t>
            </a:r>
            <a:endParaRPr dirty="0"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/>
              <a:t>We check URLs </a:t>
            </a:r>
            <a:r>
              <a:rPr lang="en-US" sz="1600" b="1" dirty="0"/>
              <a:t>AND</a:t>
            </a:r>
            <a:r>
              <a:rPr lang="en-US" sz="1600" dirty="0"/>
              <a:t> email content 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/>
              <a:t>Works on regular computers (no GPU needed) 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/>
              <a:t>Explains WHY something is phishing 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/>
              <a:t>Works with short emails 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/>
              <a:t>Has a beautiful dashboard 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/>
              <a:t>Stores all results for auditing</a:t>
            </a:r>
            <a:endParaRPr sz="1500" dirty="0"/>
          </a:p>
        </p:txBody>
      </p:sp>
      <p:sp>
        <p:nvSpPr>
          <p:cNvPr id="150" name="Google Shape;150;p2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</a:t>
            </a:r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62" name="Google Shape;162;p2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2" name="Phishing Shield • Enterprise Threat Detection and 3 more pages - Personal - Microsoft​ Edge 2025-12-22 22-12-51">
            <a:hlinkClick r:id="" action="ppaction://media"/>
            <a:extLst>
              <a:ext uri="{FF2B5EF4-FFF2-40B4-BE49-F238E27FC236}">
                <a16:creationId xmlns:a16="http://schemas.microsoft.com/office/drawing/2014/main" id="{1DA1AC66-454C-DEF3-E99C-A74AFFEF1EC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4900" y="1262625"/>
            <a:ext cx="6718004" cy="323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696</Words>
  <Application>Microsoft Office PowerPoint</Application>
  <PresentationFormat>On-screen Show (16:9)</PresentationFormat>
  <Paragraphs>127</Paragraphs>
  <Slides>19</Slides>
  <Notes>19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Raleway Light</vt:lpstr>
      <vt:lpstr>Raleway</vt:lpstr>
      <vt:lpstr>Nunito</vt:lpstr>
      <vt:lpstr>Raleway SemiBold</vt:lpstr>
      <vt:lpstr>Simple Light</vt:lpstr>
      <vt:lpstr>Automated Phissing Email Detection and Reporting System</vt:lpstr>
      <vt:lpstr>Table of Contents</vt:lpstr>
      <vt:lpstr>Introduction</vt:lpstr>
      <vt:lpstr>Problem Statement</vt:lpstr>
      <vt:lpstr>Project Idea</vt:lpstr>
      <vt:lpstr>Project Motivation</vt:lpstr>
      <vt:lpstr>Scientific Perspective</vt:lpstr>
      <vt:lpstr>Scientific Perspective</vt:lpstr>
      <vt:lpstr>Market Perspective</vt:lpstr>
      <vt:lpstr>System Overview Diagram</vt:lpstr>
      <vt:lpstr>System Overview</vt:lpstr>
      <vt:lpstr>Similar Systems</vt:lpstr>
      <vt:lpstr>Similar System (1) (2) (3)</vt:lpstr>
      <vt:lpstr>Similar System (1) (2) (3)</vt:lpstr>
      <vt:lpstr>Similar System (1) (2) (3)</vt:lpstr>
      <vt:lpstr>What Makes Our System Unique?</vt:lpstr>
      <vt:lpstr>Prototype</vt:lpstr>
      <vt:lpstr>Prototype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Project#1: Project Title</dc:title>
  <dc:creator>hassan waleed</dc:creator>
  <cp:lastModifiedBy>Omar Amin Elsayed Mohamed</cp:lastModifiedBy>
  <cp:revision>8</cp:revision>
  <dcterms:modified xsi:type="dcterms:W3CDTF">2025-12-22T21:26:59Z</dcterms:modified>
</cp:coreProperties>
</file>